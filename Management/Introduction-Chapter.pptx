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jQIUFz2tRpzj2abfEl4LLPYz1Ql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1498" y="5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2" name="Google Shape;272;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8" name="Google Shape;278;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0" name="Google Shape;290;p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7" name="Google Shape;297;p3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3" name="Google Shape;303;p3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p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5" name="Google Shape;315;p3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1" name="Google Shape;321;p4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7" name="Google Shape;327;p4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3" name="Google Shape;333;p4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9" name="Google Shape;339;p4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5" name="Google Shape;345;p4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1" name="Google Shape;351;p4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7" name="Google Shape;357;p4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4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4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4" name="Google Shape;14;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4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 name="Google Shape;20;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5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5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26" name="Google Shape;26;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5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2" name="Google Shape;32;p5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3" name="Google Shape;33;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5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5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9" name="Google Shape;39;p5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0" name="Google Shape;40;p5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1" name="Google Shape;41;p5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2" name="Google Shape;42;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5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5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5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5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5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5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5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56"/>
          <p:cNvSpPr>
            <a:spLocks noGrp="1"/>
          </p:cNvSpPr>
          <p:nvPr>
            <p:ph type="pic" idx="2"/>
          </p:nvPr>
        </p:nvSpPr>
        <p:spPr>
          <a:xfrm>
            <a:off x="1792288" y="612775"/>
            <a:ext cx="5486400" cy="4114800"/>
          </a:xfrm>
          <a:prstGeom prst="rect">
            <a:avLst/>
          </a:prstGeom>
          <a:noFill/>
          <a:ln>
            <a:noFill/>
          </a:ln>
        </p:spPr>
      </p:sp>
      <p:sp>
        <p:nvSpPr>
          <p:cNvPr id="64" name="Google Shape;64;p5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5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5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5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5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5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5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5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5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5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5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4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en.wikipedia.org/wiki/Fayolism"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Industrial to Management</a:t>
            </a:r>
            <a:endParaRPr/>
          </a:p>
        </p:txBody>
      </p:sp>
      <p:sp>
        <p:nvSpPr>
          <p:cNvPr id="85" name="Google Shape;85;p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r>
              <a:rPr lang="en-US"/>
              <a:t>Course Teacher</a:t>
            </a:r>
            <a:endParaRPr/>
          </a:p>
          <a:p>
            <a:pPr marL="0" lvl="0" indent="0" algn="ctr" rtl="0">
              <a:spcBef>
                <a:spcPts val="640"/>
              </a:spcBef>
              <a:spcAft>
                <a:spcPts val="0"/>
              </a:spcAft>
              <a:buClr>
                <a:srgbClr val="888888"/>
              </a:buClr>
              <a:buSzPts val="3200"/>
              <a:buNone/>
            </a:pPr>
            <a:r>
              <a:rPr lang="en-US"/>
              <a:t>Prof. Dr. Md. Rabiul Islam</a:t>
            </a:r>
            <a:endParaRPr/>
          </a:p>
          <a:p>
            <a:pPr marL="0" lvl="0" indent="0" algn="ctr" rtl="0">
              <a:spcBef>
                <a:spcPts val="640"/>
              </a:spcBef>
              <a:spcAft>
                <a:spcPts val="0"/>
              </a:spcAft>
              <a:buClr>
                <a:srgbClr val="888888"/>
              </a:buClr>
              <a:buSzPts val="3200"/>
              <a:buNone/>
            </a:pPr>
            <a:r>
              <a:rPr lang="en-US"/>
              <a:t>Head, Dept. of Humanities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381000" y="2514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What Is Management?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
          <p:cNvSpPr txBox="1">
            <a:spLocks noGrp="1"/>
          </p:cNvSpPr>
          <p:nvPr>
            <p:ph type="title"/>
          </p:nvPr>
        </p:nvSpPr>
        <p:spPr>
          <a:xfrm>
            <a:off x="457200" y="2985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What Is Management?</a:t>
            </a:r>
            <a:endParaRPr/>
          </a:p>
        </p:txBody>
      </p:sp>
      <p:sp>
        <p:nvSpPr>
          <p:cNvPr id="96" name="Google Shape;96;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F.W. Taylor (1911), the father of scientific management: 'Management is the art of knowing what you want to do ... in the best and cheapest way.'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What Is Management?</a:t>
            </a:r>
            <a:endParaRPr/>
          </a:p>
        </p:txBody>
      </p:sp>
      <p:sp>
        <p:nvSpPr>
          <p:cNvPr id="102" name="Google Shape;102;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Peter Drucker (1954), who attempted to narrow the debate: 'It is a multi­purpose organ that manages a business and manages managers and manages workers and work.'</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What Is Management?</a:t>
            </a:r>
            <a:endParaRPr/>
          </a:p>
        </p:txBody>
      </p:sp>
      <p:sp>
        <p:nvSpPr>
          <p:cNvPr id="108" name="Google Shape;108;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Harold Koontz (1961): 'Management is the art of getting things done through and with people in formally organized groups. It is the art of creating the environment in which people can perform and individuals could cooperate towards attaining of group goals. It is the art of remov­ing blocks to such performance, a way of optimizing efficiency in reach­ing goals.'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What Is Management?</a:t>
            </a:r>
            <a:endParaRPr/>
          </a:p>
        </p:txBody>
      </p:sp>
      <p:sp>
        <p:nvSpPr>
          <p:cNvPr id="114" name="Google Shape;114;p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George R. Terry (1977): 'Management is a distinct process consisting of planning, organizing, actuating, and controlling, performed to determine and accomplish the objectives by the use of people and resources.'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What Is Management?</a:t>
            </a:r>
            <a:endParaRPr/>
          </a:p>
        </p:txBody>
      </p:sp>
      <p:sp>
        <p:nvSpPr>
          <p:cNvPr id="120" name="Google Shape;120;p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Management is a set of activities (including planning and decision making, organizing, leading, and controlling) that direct at an organization’s resources (human, financial, physical, and information) with the aim of achieving organizational goals in an efficient and effective manner.</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What Is Management?</a:t>
            </a:r>
            <a:endParaRPr/>
          </a:p>
        </p:txBody>
      </p:sp>
      <p:sp>
        <p:nvSpPr>
          <p:cNvPr id="126" name="Google Shape;126;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Char char="•"/>
            </a:pPr>
            <a:r>
              <a:rPr lang="en-US"/>
              <a:t>Management is optimization of constraining resources to achieve some intended goals. </a:t>
            </a:r>
            <a:endParaRPr/>
          </a:p>
          <a:p>
            <a:pPr marL="342900" lvl="0" indent="-342900" algn="l" rtl="0">
              <a:spcBef>
                <a:spcPts val="592"/>
              </a:spcBef>
              <a:spcAft>
                <a:spcPts val="0"/>
              </a:spcAft>
              <a:buClr>
                <a:schemeClr val="dk1"/>
              </a:buClr>
              <a:buSzPct val="100000"/>
              <a:buChar char="•"/>
            </a:pPr>
            <a:r>
              <a:rPr lang="en-US"/>
              <a:t>'Resources' is a broad term and it encompasses everything that we require as inputs, including knowledge and information inputs. </a:t>
            </a:r>
            <a:endParaRPr/>
          </a:p>
          <a:p>
            <a:pPr marL="342900" lvl="0" indent="-342900" algn="l" rtl="0">
              <a:spcBef>
                <a:spcPts val="592"/>
              </a:spcBef>
              <a:spcAft>
                <a:spcPts val="0"/>
              </a:spcAft>
              <a:buClr>
                <a:schemeClr val="dk1"/>
              </a:buClr>
              <a:buSzPct val="100000"/>
              <a:buChar char="•"/>
            </a:pPr>
            <a:r>
              <a:rPr lang="en-US"/>
              <a:t>Resources are not available in abundance. </a:t>
            </a:r>
            <a:endParaRPr/>
          </a:p>
          <a:p>
            <a:pPr marL="342900" lvl="0" indent="-342900" algn="l" rtl="0">
              <a:spcBef>
                <a:spcPts val="592"/>
              </a:spcBef>
              <a:spcAft>
                <a:spcPts val="0"/>
              </a:spcAft>
              <a:buClr>
                <a:schemeClr val="dk1"/>
              </a:buClr>
              <a:buSzPct val="100000"/>
              <a:buChar char="•"/>
            </a:pPr>
            <a:r>
              <a:rPr lang="en-US"/>
              <a:t>There always exist resource constraints. </a:t>
            </a:r>
            <a:endParaRPr/>
          </a:p>
          <a:p>
            <a:pPr marL="342900" lvl="0" indent="-342900" algn="l" rtl="0">
              <a:spcBef>
                <a:spcPts val="592"/>
              </a:spcBef>
              <a:spcAft>
                <a:spcPts val="0"/>
              </a:spcAft>
              <a:buClr>
                <a:schemeClr val="dk1"/>
              </a:buClr>
              <a:buSzPct val="100000"/>
              <a:buChar char="•"/>
            </a:pPr>
            <a:r>
              <a:rPr lang="en-US"/>
              <a:t>Every organization tries to achieve its charted goals and objectives through efficient management and proper allocation of scarce resources.</a:t>
            </a:r>
            <a:endParaRPr/>
          </a:p>
          <a:p>
            <a:pPr marL="342900" lvl="0" indent="-154940" algn="l" rtl="0">
              <a:spcBef>
                <a:spcPts val="592"/>
              </a:spcBef>
              <a:spcAft>
                <a:spcPts val="0"/>
              </a:spcAft>
              <a:buClr>
                <a:schemeClr val="dk1"/>
              </a:buClr>
              <a:buSzPct val="100000"/>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Management Cont…</a:t>
            </a:r>
            <a:endParaRPr/>
          </a:p>
        </p:txBody>
      </p:sp>
      <p:pic>
        <p:nvPicPr>
          <p:cNvPr id="132" name="Google Shape;132;p9" descr="335020_la_01_01"/>
          <p:cNvPicPr preferRelativeResize="0"/>
          <p:nvPr/>
        </p:nvPicPr>
        <p:blipFill rotWithShape="1">
          <a:blip r:embed="rId3">
            <a:alphaModFix/>
          </a:blip>
          <a:srcRect/>
          <a:stretch/>
        </p:blipFill>
        <p:spPr>
          <a:xfrm>
            <a:off x="152400" y="1752600"/>
            <a:ext cx="8686800" cy="3886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Characteristics of Management</a:t>
            </a:r>
            <a:endParaRPr/>
          </a:p>
        </p:txBody>
      </p:sp>
      <p:sp>
        <p:nvSpPr>
          <p:cNvPr id="138" name="Google Shape;138;p10"/>
          <p:cNvSpPr txBox="1">
            <a:spLocks noGrp="1"/>
          </p:cNvSpPr>
          <p:nvPr>
            <p:ph type="body" idx="1"/>
          </p:nvPr>
        </p:nvSpPr>
        <p:spPr>
          <a:xfrm>
            <a:off x="1032558" y="1207756"/>
            <a:ext cx="8229600" cy="4526100"/>
          </a:xfrm>
          <a:prstGeom prst="rect">
            <a:avLst/>
          </a:prstGeom>
          <a:noFill/>
          <a:ln>
            <a:noFill/>
          </a:ln>
        </p:spPr>
        <p:txBody>
          <a:bodyPr spcFirstLastPara="1" wrap="square" lIns="91425" tIns="45700" rIns="91425" bIns="45700" anchor="t" anchorCtr="0">
            <a:normAutofit fontScale="77500" lnSpcReduction="20000"/>
          </a:bodyPr>
          <a:lstStyle/>
          <a:p>
            <a:pPr marL="342900" lvl="0" indent="-342900" algn="l" rtl="0">
              <a:spcBef>
                <a:spcPts val="0"/>
              </a:spcBef>
              <a:spcAft>
                <a:spcPts val="0"/>
              </a:spcAft>
              <a:buClr>
                <a:schemeClr val="dk1"/>
              </a:buClr>
              <a:buSzPct val="100000"/>
              <a:buNone/>
            </a:pPr>
            <a:endParaRPr dirty="0"/>
          </a:p>
          <a:p>
            <a:pPr marL="342900" lvl="0" indent="-342900" algn="l" rtl="0">
              <a:spcBef>
                <a:spcPts val="0"/>
              </a:spcBef>
              <a:spcAft>
                <a:spcPts val="0"/>
              </a:spcAft>
              <a:buClr>
                <a:schemeClr val="dk1"/>
              </a:buClr>
              <a:buSzPct val="100000"/>
              <a:buNone/>
            </a:pPr>
            <a:r>
              <a:rPr lang="en-US" dirty="0"/>
              <a:t>1. Management is an organized activity.</a:t>
            </a:r>
            <a:endParaRPr dirty="0"/>
          </a:p>
          <a:p>
            <a:pPr marL="342900" lvl="0" indent="-342900" algn="l" rtl="0">
              <a:spcBef>
                <a:spcPts val="496"/>
              </a:spcBef>
              <a:spcAft>
                <a:spcPts val="0"/>
              </a:spcAft>
              <a:buClr>
                <a:schemeClr val="dk1"/>
              </a:buClr>
              <a:buSzPct val="100000"/>
              <a:buNone/>
            </a:pPr>
            <a:r>
              <a:rPr lang="en-US" dirty="0"/>
              <a:t>2. Management is aligned with organizational objectives.</a:t>
            </a:r>
            <a:endParaRPr dirty="0"/>
          </a:p>
          <a:p>
            <a:pPr marL="342900" lvl="0" indent="-342900" algn="l" rtl="0">
              <a:spcBef>
                <a:spcPts val="496"/>
              </a:spcBef>
              <a:spcAft>
                <a:spcPts val="0"/>
              </a:spcAft>
              <a:buClr>
                <a:schemeClr val="dk1"/>
              </a:buClr>
              <a:buSzPct val="100000"/>
              <a:buNone/>
            </a:pPr>
            <a:r>
              <a:rPr lang="en-US" dirty="0"/>
              <a:t>3. Management optimizes constraining resources.</a:t>
            </a:r>
            <a:endParaRPr dirty="0"/>
          </a:p>
          <a:p>
            <a:pPr marL="342900" lvl="0" indent="-342900" algn="l" rtl="0">
              <a:spcBef>
                <a:spcPts val="496"/>
              </a:spcBef>
              <a:spcAft>
                <a:spcPts val="0"/>
              </a:spcAft>
              <a:buClr>
                <a:schemeClr val="dk1"/>
              </a:buClr>
              <a:buSzPct val="100000"/>
              <a:buNone/>
            </a:pPr>
            <a:r>
              <a:rPr lang="en-US" dirty="0"/>
              <a:t>4. Management works with and through people.</a:t>
            </a:r>
            <a:endParaRPr dirty="0"/>
          </a:p>
          <a:p>
            <a:pPr marL="342900" lvl="0" indent="-342900" algn="l" rtl="0">
              <a:spcBef>
                <a:spcPts val="496"/>
              </a:spcBef>
              <a:spcAft>
                <a:spcPts val="0"/>
              </a:spcAft>
              <a:buClr>
                <a:schemeClr val="dk1"/>
              </a:buClr>
              <a:buSzPct val="100000"/>
              <a:buNone/>
            </a:pPr>
            <a:r>
              <a:rPr lang="en-US" dirty="0"/>
              <a:t>5. Management is decision making.</a:t>
            </a:r>
            <a:endParaRPr dirty="0"/>
          </a:p>
          <a:p>
            <a:pPr marL="342900" lvl="0" indent="-342900" algn="l" rtl="0">
              <a:spcBef>
                <a:spcPts val="496"/>
              </a:spcBef>
              <a:spcAft>
                <a:spcPts val="0"/>
              </a:spcAft>
              <a:buClr>
                <a:schemeClr val="dk1"/>
              </a:buClr>
              <a:buSzPct val="100000"/>
              <a:buNone/>
            </a:pPr>
            <a:r>
              <a:rPr lang="en-US" dirty="0"/>
              <a:t>6. Management is a science as well as an art.</a:t>
            </a:r>
            <a:endParaRPr dirty="0"/>
          </a:p>
          <a:p>
            <a:pPr marL="342900" lvl="0" indent="-342900" algn="l" rtl="0">
              <a:spcBef>
                <a:spcPts val="496"/>
              </a:spcBef>
              <a:spcAft>
                <a:spcPts val="0"/>
              </a:spcAft>
              <a:buClr>
                <a:schemeClr val="dk1"/>
              </a:buClr>
              <a:buSzPct val="100000"/>
              <a:buNone/>
            </a:pPr>
            <a:r>
              <a:rPr lang="en-US" dirty="0"/>
              <a:t>7. Management is universal and intangible.</a:t>
            </a:r>
            <a:endParaRPr dirty="0"/>
          </a:p>
          <a:p>
            <a:pPr marL="342900" lvl="0" indent="-342900" algn="l" rtl="0">
              <a:spcBef>
                <a:spcPts val="496"/>
              </a:spcBef>
              <a:spcAft>
                <a:spcPts val="0"/>
              </a:spcAft>
              <a:buClr>
                <a:schemeClr val="dk1"/>
              </a:buClr>
              <a:buSzPct val="100000"/>
              <a:buNone/>
            </a:pPr>
            <a:r>
              <a:rPr lang="en-US" dirty="0"/>
              <a:t>8. Management is an inter-disciplinary approach.</a:t>
            </a:r>
            <a:endParaRPr dirty="0"/>
          </a:p>
          <a:p>
            <a:pPr marL="342900" lvl="0" indent="-342900" algn="l" rtl="0">
              <a:spcBef>
                <a:spcPts val="496"/>
              </a:spcBef>
              <a:spcAft>
                <a:spcPts val="0"/>
              </a:spcAft>
              <a:buClr>
                <a:schemeClr val="dk1"/>
              </a:buClr>
              <a:buSzPct val="100000"/>
              <a:buNone/>
            </a:pPr>
            <a:r>
              <a:rPr lang="en-US" dirty="0"/>
              <a:t>9. Management is a social process.</a:t>
            </a:r>
            <a:endParaRPr dirty="0"/>
          </a:p>
          <a:p>
            <a:pPr marL="342900" lvl="0" indent="-342900" algn="l" rtl="0">
              <a:spcBef>
                <a:spcPts val="496"/>
              </a:spcBef>
              <a:spcAft>
                <a:spcPts val="0"/>
              </a:spcAft>
              <a:buClr>
                <a:schemeClr val="dk1"/>
              </a:buClr>
              <a:buSzPct val="100000"/>
              <a:buNone/>
            </a:pPr>
            <a:r>
              <a:rPr lang="en-US" dirty="0"/>
              <a:t>10. Management is a strategic function.</a:t>
            </a:r>
            <a:endParaRPr dirty="0"/>
          </a:p>
          <a:p>
            <a:pPr marL="342900" lvl="0" indent="-342900" algn="l" rtl="0">
              <a:spcBef>
                <a:spcPts val="496"/>
              </a:spcBef>
              <a:spcAft>
                <a:spcPts val="0"/>
              </a:spcAft>
              <a:buClr>
                <a:schemeClr val="dk1"/>
              </a:buClr>
              <a:buSzPct val="100000"/>
              <a:buNone/>
            </a:pPr>
            <a:r>
              <a:rPr lang="en-US" dirty="0"/>
              <a:t>11. Management is a profession.</a:t>
            </a:r>
            <a:endParaRPr dirty="0"/>
          </a:p>
          <a:p>
            <a:pPr marL="342900" lvl="0" indent="-185420" algn="l" rtl="0">
              <a:spcBef>
                <a:spcPts val="496"/>
              </a:spcBef>
              <a:spcAft>
                <a:spcPts val="0"/>
              </a:spcAft>
              <a:buClr>
                <a:schemeClr val="dk1"/>
              </a:buClr>
              <a:buSzPct val="100000"/>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b="1"/>
              <a:t>Different Dimensions of Management</a:t>
            </a:r>
            <a:endParaRPr/>
          </a:p>
        </p:txBody>
      </p:sp>
      <p:sp>
        <p:nvSpPr>
          <p:cNvPr id="144" name="Google Shape;144;p1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Char char="•"/>
            </a:pPr>
            <a:r>
              <a:rPr lang="en-US"/>
              <a:t>Productivity orientation</a:t>
            </a:r>
            <a:endParaRPr/>
          </a:p>
          <a:p>
            <a:pPr marL="742950" lvl="1" indent="-285750" algn="l" rtl="0">
              <a:spcBef>
                <a:spcPts val="518"/>
              </a:spcBef>
              <a:spcAft>
                <a:spcPts val="0"/>
              </a:spcAft>
              <a:buClr>
                <a:schemeClr val="dk1"/>
              </a:buClr>
              <a:buSzPct val="100000"/>
              <a:buChar char="–"/>
            </a:pPr>
            <a:r>
              <a:rPr lang="en-US"/>
              <a:t>concerned with increased productivity</a:t>
            </a:r>
            <a:endParaRPr/>
          </a:p>
          <a:p>
            <a:pPr marL="342900" lvl="0" indent="-342900" algn="l" rtl="0">
              <a:spcBef>
                <a:spcPts val="592"/>
              </a:spcBef>
              <a:spcAft>
                <a:spcPts val="0"/>
              </a:spcAft>
              <a:buClr>
                <a:schemeClr val="dk1"/>
              </a:buClr>
              <a:buSzPct val="100000"/>
              <a:buChar char="•"/>
            </a:pPr>
            <a:r>
              <a:rPr lang="en-US"/>
              <a:t>Human relations orientation</a:t>
            </a:r>
            <a:endParaRPr/>
          </a:p>
          <a:p>
            <a:pPr marL="742950" lvl="1" indent="-285750" algn="l" rtl="0">
              <a:spcBef>
                <a:spcPts val="518"/>
              </a:spcBef>
              <a:spcAft>
                <a:spcPts val="0"/>
              </a:spcAft>
              <a:buClr>
                <a:schemeClr val="dk1"/>
              </a:buClr>
              <a:buSzPct val="100000"/>
              <a:buChar char="–"/>
            </a:pPr>
            <a:r>
              <a:rPr lang="en-US"/>
              <a:t>emphasize on relationships among people</a:t>
            </a:r>
            <a:endParaRPr/>
          </a:p>
          <a:p>
            <a:pPr marL="342900" lvl="0" indent="-342900" algn="l" rtl="0">
              <a:spcBef>
                <a:spcPts val="592"/>
              </a:spcBef>
              <a:spcAft>
                <a:spcPts val="0"/>
              </a:spcAft>
              <a:buClr>
                <a:schemeClr val="dk1"/>
              </a:buClr>
              <a:buSzPct val="100000"/>
              <a:buChar char="•"/>
            </a:pPr>
            <a:r>
              <a:rPr lang="en-US"/>
              <a:t>Decision-making orientation</a:t>
            </a:r>
            <a:endParaRPr/>
          </a:p>
          <a:p>
            <a:pPr marL="742950" lvl="1" indent="-285750" algn="l" rtl="0">
              <a:spcBef>
                <a:spcPts val="518"/>
              </a:spcBef>
              <a:spcAft>
                <a:spcPts val="0"/>
              </a:spcAft>
              <a:buClr>
                <a:schemeClr val="dk1"/>
              </a:buClr>
              <a:buSzPct val="100000"/>
              <a:buChar char="–"/>
            </a:pPr>
            <a:r>
              <a:rPr lang="en-US"/>
              <a:t>focus on decision making as the primary function of management</a:t>
            </a:r>
            <a:endParaRPr/>
          </a:p>
          <a:p>
            <a:pPr marL="342900" lvl="0" indent="-342900" algn="l" rtl="0">
              <a:spcBef>
                <a:spcPts val="592"/>
              </a:spcBef>
              <a:spcAft>
                <a:spcPts val="0"/>
              </a:spcAft>
              <a:buClr>
                <a:schemeClr val="dk1"/>
              </a:buClr>
              <a:buSzPct val="100000"/>
              <a:buChar char="•"/>
            </a:pPr>
            <a:r>
              <a:rPr lang="en-US"/>
              <a:t>Leadership orientation</a:t>
            </a:r>
            <a:endParaRPr/>
          </a:p>
          <a:p>
            <a:pPr marL="742950" lvl="1" indent="-285750" algn="l" rtl="0">
              <a:spcBef>
                <a:spcPts val="518"/>
              </a:spcBef>
              <a:spcAft>
                <a:spcPts val="0"/>
              </a:spcAft>
              <a:buClr>
                <a:schemeClr val="dk1"/>
              </a:buClr>
              <a:buSzPct val="100000"/>
              <a:buChar char="–"/>
            </a:pPr>
            <a:r>
              <a:rPr lang="en-US"/>
              <a:t>highlights leadership as the essence of management</a:t>
            </a:r>
            <a:endParaRPr/>
          </a:p>
          <a:p>
            <a:pPr marL="342900" lvl="0" indent="-342900" algn="l" rtl="0">
              <a:spcBef>
                <a:spcPts val="592"/>
              </a:spcBef>
              <a:spcAft>
                <a:spcPts val="0"/>
              </a:spcAft>
              <a:buClr>
                <a:schemeClr val="dk1"/>
              </a:buClr>
              <a:buSzPct val="100000"/>
              <a:buChar char="•"/>
            </a:pPr>
            <a:r>
              <a:rPr lang="en-US"/>
              <a:t>Process orientation</a:t>
            </a:r>
            <a:endParaRPr/>
          </a:p>
          <a:p>
            <a:pPr marL="742950" lvl="1" indent="-121284" algn="l" rtl="0">
              <a:spcBef>
                <a:spcPts val="518"/>
              </a:spcBef>
              <a:spcAft>
                <a:spcPts val="0"/>
              </a:spcAft>
              <a:buClr>
                <a:schemeClr val="dk1"/>
              </a:buClr>
              <a:buSzPct val="10000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Efficiency and Effectiveness</a:t>
            </a:r>
            <a:endParaRPr/>
          </a:p>
        </p:txBody>
      </p:sp>
      <p:sp>
        <p:nvSpPr>
          <p:cNvPr id="150" name="Google Shape;150;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b="1" dirty="0"/>
              <a:t>Efficiency</a:t>
            </a:r>
            <a:endParaRPr dirty="0"/>
          </a:p>
          <a:p>
            <a:pPr marL="742950" lvl="1" indent="-285750" algn="l" rtl="0">
              <a:spcBef>
                <a:spcPts val="560"/>
              </a:spcBef>
              <a:spcAft>
                <a:spcPts val="0"/>
              </a:spcAft>
              <a:buClr>
                <a:schemeClr val="dk1"/>
              </a:buClr>
              <a:buSzPts val="2800"/>
              <a:buChar char="–"/>
            </a:pPr>
            <a:r>
              <a:rPr lang="en-US"/>
              <a:t>By efficient, we mean using resources wisely and in a cost effective way</a:t>
            </a:r>
            <a:endParaRPr b="1"/>
          </a:p>
          <a:p>
            <a:pPr marL="342900" lvl="0" indent="-342900" algn="l" rtl="0">
              <a:spcBef>
                <a:spcPts val="640"/>
              </a:spcBef>
              <a:spcAft>
                <a:spcPts val="0"/>
              </a:spcAft>
              <a:buClr>
                <a:schemeClr val="dk1"/>
              </a:buClr>
              <a:buSzPts val="3200"/>
              <a:buChar char="•"/>
            </a:pPr>
            <a:r>
              <a:rPr lang="en-US" b="1" dirty="0"/>
              <a:t>Effectiveness</a:t>
            </a:r>
            <a:endParaRPr dirty="0"/>
          </a:p>
          <a:p>
            <a:pPr marL="742950" lvl="1" indent="-285750" algn="l" rtl="0">
              <a:spcBef>
                <a:spcPts val="560"/>
              </a:spcBef>
              <a:spcAft>
                <a:spcPts val="0"/>
              </a:spcAft>
              <a:buClr>
                <a:schemeClr val="dk1"/>
              </a:buClr>
              <a:buSzPts val="2800"/>
              <a:buChar char="–"/>
            </a:pPr>
            <a:r>
              <a:rPr lang="en-US" dirty="0"/>
              <a:t>By effective, we mean making the right decisions and successfully implementing them.</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dirty="0"/>
              <a:t>Decision Situations</a:t>
            </a:r>
            <a:endParaRPr dirty="0"/>
          </a:p>
        </p:txBody>
      </p:sp>
      <p:sp>
        <p:nvSpPr>
          <p:cNvPr id="156" name="Google Shape;156;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dirty="0"/>
              <a:t>Efficient but not effective</a:t>
            </a:r>
            <a:endParaRPr dirty="0"/>
          </a:p>
          <a:p>
            <a:pPr marL="342900" lvl="0" indent="-342900" algn="l" rtl="0">
              <a:spcBef>
                <a:spcPts val="640"/>
              </a:spcBef>
              <a:spcAft>
                <a:spcPts val="0"/>
              </a:spcAft>
              <a:buClr>
                <a:schemeClr val="dk1"/>
              </a:buClr>
              <a:buSzPts val="3200"/>
              <a:buChar char="•"/>
            </a:pPr>
            <a:r>
              <a:rPr lang="en-US" dirty="0"/>
              <a:t>Effective but not efficient</a:t>
            </a:r>
            <a:endParaRPr dirty="0"/>
          </a:p>
          <a:p>
            <a:pPr marL="342900" lvl="0" indent="-342900" algn="l" rtl="0">
              <a:spcBef>
                <a:spcPts val="640"/>
              </a:spcBef>
              <a:spcAft>
                <a:spcPts val="0"/>
              </a:spcAft>
              <a:buClr>
                <a:schemeClr val="dk1"/>
              </a:buClr>
              <a:buSzPts val="3200"/>
              <a:buChar char="•"/>
            </a:pPr>
            <a:r>
              <a:rPr lang="en-US" dirty="0"/>
              <a:t>Both efficient and effective</a:t>
            </a:r>
            <a:endParaRPr dirty="0"/>
          </a:p>
          <a:p>
            <a:pPr marL="342900" lvl="0" indent="-342900" algn="l" rtl="0">
              <a:spcBef>
                <a:spcPts val="640"/>
              </a:spcBef>
              <a:spcAft>
                <a:spcPts val="0"/>
              </a:spcAft>
              <a:buClr>
                <a:schemeClr val="dk1"/>
              </a:buClr>
              <a:buSzPts val="3200"/>
              <a:buChar char="•"/>
            </a:pPr>
            <a:r>
              <a:rPr lang="en-US" dirty="0"/>
              <a:t>Neither efficient nor effective</a:t>
            </a:r>
          </a:p>
          <a:p>
            <a:pPr marL="342900" lvl="0" indent="-342900" algn="l" rtl="0">
              <a:spcBef>
                <a:spcPts val="640"/>
              </a:spcBef>
              <a:spcAft>
                <a:spcPts val="0"/>
              </a:spcAft>
              <a:buClr>
                <a:schemeClr val="dk1"/>
              </a:buClr>
              <a:buSzPts val="3200"/>
              <a:buChar char="•"/>
            </a:pPr>
            <a:endParaRPr lang="en-US" dirty="0"/>
          </a:p>
          <a:p>
            <a:pPr marL="0" lvl="0" indent="0" algn="l" rtl="0">
              <a:spcBef>
                <a:spcPts val="640"/>
              </a:spcBef>
              <a:spcAft>
                <a:spcPts val="0"/>
              </a:spcAft>
              <a:buClr>
                <a:schemeClr val="dk1"/>
              </a:buClr>
              <a:buSzPts val="3200"/>
              <a:buNone/>
            </a:pPr>
            <a:r>
              <a:rPr lang="en-US" sz="2800" dirty="0">
                <a:solidFill>
                  <a:srgbClr val="FF0000"/>
                </a:solidFill>
              </a:rPr>
              <a:t>https://www.zippia.com/advice/efficiency-vs-effectiveness/</a:t>
            </a:r>
            <a:endParaRPr sz="2800" dirty="0">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b="1"/>
              <a:t>The Management Process / Functions</a:t>
            </a:r>
            <a:endParaRPr/>
          </a:p>
        </p:txBody>
      </p:sp>
      <p:pic>
        <p:nvPicPr>
          <p:cNvPr id="162" name="Google Shape;162;p14" descr="C:\Documents and Settings\fournij\Desktop\griffin_gifs\335020_la_01_02.eps.gif"/>
          <p:cNvPicPr preferRelativeResize="0"/>
          <p:nvPr/>
        </p:nvPicPr>
        <p:blipFill rotWithShape="1">
          <a:blip r:embed="rId3">
            <a:alphaModFix/>
          </a:blip>
          <a:srcRect/>
          <a:stretch/>
        </p:blipFill>
        <p:spPr>
          <a:xfrm>
            <a:off x="685800" y="1371600"/>
            <a:ext cx="8001000" cy="5174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Planning</a:t>
            </a:r>
            <a:endParaRPr/>
          </a:p>
        </p:txBody>
      </p:sp>
      <p:sp>
        <p:nvSpPr>
          <p:cNvPr id="168" name="Google Shape;168;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Planning is deciding in advance what is to be done. </a:t>
            </a:r>
            <a:endParaRPr/>
          </a:p>
          <a:p>
            <a:pPr marL="342900" lvl="0" indent="-342900" algn="l" rtl="0">
              <a:spcBef>
                <a:spcPts val="640"/>
              </a:spcBef>
              <a:spcAft>
                <a:spcPts val="0"/>
              </a:spcAft>
              <a:buClr>
                <a:schemeClr val="dk1"/>
              </a:buClr>
              <a:buSzPts val="3200"/>
              <a:buChar char="•"/>
            </a:pPr>
            <a:r>
              <a:rPr lang="en-US"/>
              <a:t>It is the future course of action</a:t>
            </a:r>
            <a:endParaRPr/>
          </a:p>
          <a:p>
            <a:pPr marL="742950" lvl="1" indent="-285750" algn="l" rtl="0">
              <a:spcBef>
                <a:spcPts val="560"/>
              </a:spcBef>
              <a:spcAft>
                <a:spcPts val="0"/>
              </a:spcAft>
              <a:buClr>
                <a:schemeClr val="dk1"/>
              </a:buClr>
              <a:buSzPts val="2800"/>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Types of Plans</a:t>
            </a:r>
            <a:endParaRPr/>
          </a:p>
        </p:txBody>
      </p:sp>
      <p:sp>
        <p:nvSpPr>
          <p:cNvPr id="174" name="Google Shape;174;p16"/>
          <p:cNvSpPr txBox="1"/>
          <p:nvPr/>
        </p:nvSpPr>
        <p:spPr>
          <a:xfrm>
            <a:off x="762000" y="1495485"/>
            <a:ext cx="3810000" cy="45243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chemeClr val="dk1"/>
                </a:solidFill>
                <a:latin typeface="Calibri"/>
                <a:ea typeface="Calibri"/>
                <a:cs typeface="Calibri"/>
                <a:sym typeface="Calibri"/>
              </a:rPr>
              <a:t>Organizational Level</a:t>
            </a:r>
            <a:endParaRPr/>
          </a:p>
          <a:p>
            <a:pPr marL="571500" marR="0" lvl="0" indent="-571500" algn="l" rtl="0">
              <a:spcBef>
                <a:spcPts val="0"/>
              </a:spcBef>
              <a:spcAft>
                <a:spcPts val="0"/>
              </a:spcAft>
              <a:buClr>
                <a:schemeClr val="dk1"/>
              </a:buClr>
              <a:buSzPts val="3200"/>
              <a:buFont typeface="Calibri"/>
              <a:buAutoNum type="romanLcPeriod"/>
            </a:pPr>
            <a:r>
              <a:rPr lang="en-US" sz="3200">
                <a:solidFill>
                  <a:schemeClr val="dk1"/>
                </a:solidFill>
                <a:latin typeface="Calibri"/>
                <a:ea typeface="Calibri"/>
                <a:cs typeface="Calibri"/>
                <a:sym typeface="Calibri"/>
              </a:rPr>
              <a:t>Corporate</a:t>
            </a:r>
            <a:endParaRPr/>
          </a:p>
          <a:p>
            <a:pPr marL="571500" marR="0" lvl="0" indent="-571500" algn="l" rtl="0">
              <a:spcBef>
                <a:spcPts val="0"/>
              </a:spcBef>
              <a:spcAft>
                <a:spcPts val="0"/>
              </a:spcAft>
              <a:buClr>
                <a:schemeClr val="dk1"/>
              </a:buClr>
              <a:buSzPts val="3200"/>
              <a:buFont typeface="Calibri"/>
              <a:buAutoNum type="romanLcPeriod"/>
            </a:pPr>
            <a:r>
              <a:rPr lang="en-US" sz="3200">
                <a:solidFill>
                  <a:schemeClr val="dk1"/>
                </a:solidFill>
                <a:latin typeface="Calibri"/>
                <a:ea typeface="Calibri"/>
                <a:cs typeface="Calibri"/>
                <a:sym typeface="Calibri"/>
              </a:rPr>
              <a:t>Divisional</a:t>
            </a:r>
            <a:endParaRPr/>
          </a:p>
          <a:p>
            <a:pPr marL="571500" marR="0" lvl="0" indent="-571500" algn="l" rtl="0">
              <a:spcBef>
                <a:spcPts val="0"/>
              </a:spcBef>
              <a:spcAft>
                <a:spcPts val="0"/>
              </a:spcAft>
              <a:buClr>
                <a:schemeClr val="dk1"/>
              </a:buClr>
              <a:buSzPts val="3200"/>
              <a:buFont typeface="Calibri"/>
              <a:buAutoNum type="romanLcPeriod"/>
            </a:pPr>
            <a:r>
              <a:rPr lang="en-US" sz="3200">
                <a:solidFill>
                  <a:schemeClr val="dk1"/>
                </a:solidFill>
                <a:latin typeface="Calibri"/>
                <a:ea typeface="Calibri"/>
                <a:cs typeface="Calibri"/>
                <a:sym typeface="Calibri"/>
              </a:rPr>
              <a:t>Functional</a:t>
            </a:r>
            <a:endParaRPr/>
          </a:p>
          <a:p>
            <a:pPr marL="0" marR="0" lvl="0" indent="0" algn="l" rtl="0">
              <a:spcBef>
                <a:spcPts val="0"/>
              </a:spcBef>
              <a:spcAft>
                <a:spcPts val="0"/>
              </a:spcAft>
              <a:buNone/>
            </a:pPr>
            <a:endParaRPr sz="3200" b="1">
              <a:solidFill>
                <a:schemeClr val="dk1"/>
              </a:solidFill>
              <a:latin typeface="Calibri"/>
              <a:ea typeface="Calibri"/>
              <a:cs typeface="Calibri"/>
              <a:sym typeface="Calibri"/>
            </a:endParaRPr>
          </a:p>
          <a:p>
            <a:pPr marL="0" marR="0" lvl="0" indent="0" algn="l" rtl="0">
              <a:spcBef>
                <a:spcPts val="0"/>
              </a:spcBef>
              <a:spcAft>
                <a:spcPts val="0"/>
              </a:spcAft>
              <a:buNone/>
            </a:pPr>
            <a:r>
              <a:rPr lang="en-US" sz="3200" b="1">
                <a:solidFill>
                  <a:schemeClr val="dk1"/>
                </a:solidFill>
                <a:latin typeface="Calibri"/>
                <a:ea typeface="Calibri"/>
                <a:cs typeface="Calibri"/>
                <a:sym typeface="Calibri"/>
              </a:rPr>
              <a:t>Time Period</a:t>
            </a:r>
            <a:endParaRPr/>
          </a:p>
          <a:p>
            <a:pPr marL="571500" marR="0" lvl="0" indent="-571500" algn="l" rtl="0">
              <a:spcBef>
                <a:spcPts val="0"/>
              </a:spcBef>
              <a:spcAft>
                <a:spcPts val="0"/>
              </a:spcAft>
              <a:buClr>
                <a:schemeClr val="dk1"/>
              </a:buClr>
              <a:buSzPts val="3200"/>
              <a:buFont typeface="Calibri"/>
              <a:buAutoNum type="romanLcPeriod"/>
            </a:pPr>
            <a:r>
              <a:rPr lang="en-US" sz="3200">
                <a:solidFill>
                  <a:schemeClr val="dk1"/>
                </a:solidFill>
                <a:latin typeface="Calibri"/>
                <a:ea typeface="Calibri"/>
                <a:cs typeface="Calibri"/>
                <a:sym typeface="Calibri"/>
              </a:rPr>
              <a:t>Long range</a:t>
            </a:r>
            <a:endParaRPr/>
          </a:p>
          <a:p>
            <a:pPr marL="571500" marR="0" lvl="0" indent="-571500" algn="l" rtl="0">
              <a:spcBef>
                <a:spcPts val="0"/>
              </a:spcBef>
              <a:spcAft>
                <a:spcPts val="0"/>
              </a:spcAft>
              <a:buClr>
                <a:schemeClr val="dk1"/>
              </a:buClr>
              <a:buSzPts val="3200"/>
              <a:buFont typeface="Calibri"/>
              <a:buAutoNum type="romanLcPeriod"/>
            </a:pPr>
            <a:r>
              <a:rPr lang="en-US" sz="3200">
                <a:solidFill>
                  <a:schemeClr val="dk1"/>
                </a:solidFill>
                <a:latin typeface="Calibri"/>
                <a:ea typeface="Calibri"/>
                <a:cs typeface="Calibri"/>
                <a:sym typeface="Calibri"/>
              </a:rPr>
              <a:t>Medium range</a:t>
            </a:r>
            <a:endParaRPr/>
          </a:p>
          <a:p>
            <a:pPr marL="571500" marR="0" lvl="0" indent="-571500" algn="l" rtl="0">
              <a:spcBef>
                <a:spcPts val="0"/>
              </a:spcBef>
              <a:spcAft>
                <a:spcPts val="0"/>
              </a:spcAft>
              <a:buClr>
                <a:schemeClr val="dk1"/>
              </a:buClr>
              <a:buSzPts val="3200"/>
              <a:buFont typeface="Calibri"/>
              <a:buAutoNum type="romanLcPeriod"/>
            </a:pPr>
            <a:r>
              <a:rPr lang="en-US" sz="3200">
                <a:solidFill>
                  <a:schemeClr val="dk1"/>
                </a:solidFill>
                <a:latin typeface="Calibri"/>
                <a:ea typeface="Calibri"/>
                <a:cs typeface="Calibri"/>
                <a:sym typeface="Calibri"/>
              </a:rPr>
              <a:t>Short range</a:t>
            </a:r>
            <a:endParaRPr/>
          </a:p>
        </p:txBody>
      </p:sp>
      <p:sp>
        <p:nvSpPr>
          <p:cNvPr id="175" name="Google Shape;175;p16"/>
          <p:cNvSpPr txBox="1"/>
          <p:nvPr/>
        </p:nvSpPr>
        <p:spPr>
          <a:xfrm>
            <a:off x="4876800" y="3429000"/>
            <a:ext cx="2971800" cy="28315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200" b="1">
              <a:solidFill>
                <a:schemeClr val="dk1"/>
              </a:solidFill>
              <a:latin typeface="Calibri"/>
              <a:ea typeface="Calibri"/>
              <a:cs typeface="Calibri"/>
              <a:sym typeface="Calibri"/>
            </a:endParaRPr>
          </a:p>
          <a:p>
            <a:pPr marL="0" marR="0" lvl="0" indent="0" algn="l" rtl="0">
              <a:spcBef>
                <a:spcPts val="0"/>
              </a:spcBef>
              <a:spcAft>
                <a:spcPts val="0"/>
              </a:spcAft>
              <a:buNone/>
            </a:pPr>
            <a:r>
              <a:rPr lang="en-US" sz="3200" b="1">
                <a:solidFill>
                  <a:schemeClr val="dk1"/>
                </a:solidFill>
                <a:latin typeface="Calibri"/>
                <a:ea typeface="Calibri"/>
                <a:cs typeface="Calibri"/>
                <a:sym typeface="Calibri"/>
              </a:rPr>
              <a:t>Focus</a:t>
            </a:r>
            <a:endParaRPr/>
          </a:p>
          <a:p>
            <a:pPr marL="571500" marR="0" lvl="0" indent="-571500" algn="l" rtl="0">
              <a:spcBef>
                <a:spcPts val="0"/>
              </a:spcBef>
              <a:spcAft>
                <a:spcPts val="0"/>
              </a:spcAft>
              <a:buClr>
                <a:schemeClr val="dk1"/>
              </a:buClr>
              <a:buSzPts val="3200"/>
              <a:buFont typeface="Calibri"/>
              <a:buAutoNum type="romanLcPeriod"/>
            </a:pPr>
            <a:r>
              <a:rPr lang="en-US" sz="3200">
                <a:solidFill>
                  <a:schemeClr val="dk1"/>
                </a:solidFill>
                <a:latin typeface="Calibri"/>
                <a:ea typeface="Calibri"/>
                <a:cs typeface="Calibri"/>
                <a:sym typeface="Calibri"/>
              </a:rPr>
              <a:t>Strategic</a:t>
            </a:r>
            <a:endParaRPr/>
          </a:p>
          <a:p>
            <a:pPr marL="571500" marR="0" lvl="0" indent="-571500" algn="l" rtl="0">
              <a:spcBef>
                <a:spcPts val="0"/>
              </a:spcBef>
              <a:spcAft>
                <a:spcPts val="0"/>
              </a:spcAft>
              <a:buClr>
                <a:schemeClr val="dk1"/>
              </a:buClr>
              <a:buSzPts val="3200"/>
              <a:buFont typeface="Calibri"/>
              <a:buAutoNum type="romanLcPeriod"/>
            </a:pPr>
            <a:r>
              <a:rPr lang="en-US" sz="3200">
                <a:solidFill>
                  <a:schemeClr val="dk1"/>
                </a:solidFill>
                <a:latin typeface="Calibri"/>
                <a:ea typeface="Calibri"/>
                <a:cs typeface="Calibri"/>
                <a:sym typeface="Calibri"/>
              </a:rPr>
              <a:t>Operational</a:t>
            </a:r>
            <a:endParaRPr/>
          </a:p>
          <a:p>
            <a:pPr marL="571500" marR="0" lvl="0" indent="-571500" algn="l" rtl="0">
              <a:spcBef>
                <a:spcPts val="0"/>
              </a:spcBef>
              <a:spcAft>
                <a:spcPts val="0"/>
              </a:spcAft>
              <a:buClr>
                <a:schemeClr val="dk1"/>
              </a:buClr>
              <a:buSzPts val="3200"/>
              <a:buFont typeface="Calibri"/>
              <a:buAutoNum type="romanLcPeriod"/>
            </a:pPr>
            <a:r>
              <a:rPr lang="en-US" sz="3200">
                <a:solidFill>
                  <a:schemeClr val="dk1"/>
                </a:solidFill>
                <a:latin typeface="Calibri"/>
                <a:ea typeface="Calibri"/>
                <a:cs typeface="Calibri"/>
                <a:sym typeface="Calibri"/>
              </a:rPr>
              <a:t>Tactical</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Types of Planning</a:t>
            </a:r>
            <a:endParaRPr/>
          </a:p>
        </p:txBody>
      </p:sp>
      <p:pic>
        <p:nvPicPr>
          <p:cNvPr id="181" name="Google Shape;181;p17" descr="Management Principles - Types Of Plans - Tutorialspoint"/>
          <p:cNvPicPr preferRelativeResize="0"/>
          <p:nvPr/>
        </p:nvPicPr>
        <p:blipFill rotWithShape="1">
          <a:blip r:embed="rId3">
            <a:alphaModFix/>
          </a:blip>
          <a:srcRect/>
          <a:stretch/>
        </p:blipFill>
        <p:spPr>
          <a:xfrm>
            <a:off x="304800" y="1752600"/>
            <a:ext cx="8305800" cy="4800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Decision-making</a:t>
            </a:r>
            <a:r>
              <a:rPr lang="en-US"/>
              <a:t> </a:t>
            </a:r>
            <a:endParaRPr/>
          </a:p>
        </p:txBody>
      </p:sp>
      <p:sp>
        <p:nvSpPr>
          <p:cNvPr id="187" name="Google Shape;187;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Decision-making is the act of choosing one alternative from among a set of alternatives.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Decision-making</a:t>
            </a:r>
            <a:r>
              <a:rPr lang="en-US"/>
              <a:t> </a:t>
            </a:r>
            <a:r>
              <a:rPr lang="en-US" b="1"/>
              <a:t>Steps/Process</a:t>
            </a:r>
            <a:endParaRPr/>
          </a:p>
        </p:txBody>
      </p:sp>
      <p:sp>
        <p:nvSpPr>
          <p:cNvPr id="193" name="Google Shape;193;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Recognizing and defining the nature of a decision situation, </a:t>
            </a:r>
            <a:endParaRPr/>
          </a:p>
          <a:p>
            <a:pPr marL="342900" lvl="0" indent="-342900" algn="l" rtl="0">
              <a:spcBef>
                <a:spcPts val="640"/>
              </a:spcBef>
              <a:spcAft>
                <a:spcPts val="0"/>
              </a:spcAft>
              <a:buClr>
                <a:schemeClr val="dk1"/>
              </a:buClr>
              <a:buSzPts val="3200"/>
              <a:buChar char="•"/>
            </a:pPr>
            <a:r>
              <a:rPr lang="en-US"/>
              <a:t>Identifying alternatives, </a:t>
            </a:r>
            <a:endParaRPr/>
          </a:p>
          <a:p>
            <a:pPr marL="342900" lvl="0" indent="-342900" algn="l" rtl="0">
              <a:spcBef>
                <a:spcPts val="640"/>
              </a:spcBef>
              <a:spcAft>
                <a:spcPts val="0"/>
              </a:spcAft>
              <a:buClr>
                <a:schemeClr val="dk1"/>
              </a:buClr>
              <a:buSzPts val="3200"/>
              <a:buChar char="•"/>
            </a:pPr>
            <a:r>
              <a:rPr lang="en-US"/>
              <a:t>Evaluating alternatives, </a:t>
            </a:r>
            <a:endParaRPr/>
          </a:p>
          <a:p>
            <a:pPr marL="342900" lvl="0" indent="-342900" algn="l" rtl="0">
              <a:spcBef>
                <a:spcPts val="640"/>
              </a:spcBef>
              <a:spcAft>
                <a:spcPts val="0"/>
              </a:spcAft>
              <a:buClr>
                <a:schemeClr val="dk1"/>
              </a:buClr>
              <a:buSzPts val="3200"/>
              <a:buChar char="•"/>
            </a:pPr>
            <a:r>
              <a:rPr lang="en-US"/>
              <a:t>Choosing the "best" alternative, </a:t>
            </a:r>
            <a:endParaRPr/>
          </a:p>
          <a:p>
            <a:pPr marL="342900" lvl="0" indent="-342900" algn="l" rtl="0">
              <a:spcBef>
                <a:spcPts val="640"/>
              </a:spcBef>
              <a:spcAft>
                <a:spcPts val="0"/>
              </a:spcAft>
              <a:buClr>
                <a:schemeClr val="dk1"/>
              </a:buClr>
              <a:buSzPts val="3200"/>
              <a:buChar char="•"/>
            </a:pPr>
            <a:r>
              <a:rPr lang="en-US"/>
              <a:t>Putting it to practice and </a:t>
            </a:r>
            <a:endParaRPr/>
          </a:p>
          <a:p>
            <a:pPr marL="342900" lvl="0" indent="-342900" algn="l" rtl="0">
              <a:spcBef>
                <a:spcPts val="640"/>
              </a:spcBef>
              <a:spcAft>
                <a:spcPts val="0"/>
              </a:spcAft>
              <a:buClr>
                <a:schemeClr val="dk1"/>
              </a:buClr>
              <a:buSzPts val="3200"/>
              <a:buChar char="•"/>
            </a:pPr>
            <a:r>
              <a:rPr lang="en-US"/>
              <a:t>Follow up. </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Organizing</a:t>
            </a:r>
            <a:endParaRPr/>
          </a:p>
        </p:txBody>
      </p:sp>
      <p:sp>
        <p:nvSpPr>
          <p:cNvPr id="199" name="Google Shape;199;p2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Organizing means determining how activities and resources are to be grouped. </a:t>
            </a:r>
            <a:endParaRPr/>
          </a:p>
          <a:p>
            <a:pPr marL="342900" lvl="0" indent="-342900" algn="l" rtl="0">
              <a:spcBef>
                <a:spcPts val="640"/>
              </a:spcBef>
              <a:spcAft>
                <a:spcPts val="0"/>
              </a:spcAft>
              <a:buClr>
                <a:schemeClr val="dk1"/>
              </a:buClr>
              <a:buSzPts val="3200"/>
              <a:buChar char="•"/>
            </a:pPr>
            <a:r>
              <a:rPr lang="en-US"/>
              <a:t>The basic elements of organizing include </a:t>
            </a:r>
            <a:endParaRPr/>
          </a:p>
          <a:p>
            <a:pPr marL="742950" lvl="1" indent="-285750" algn="l" rtl="0">
              <a:spcBef>
                <a:spcPts val="560"/>
              </a:spcBef>
              <a:spcAft>
                <a:spcPts val="0"/>
              </a:spcAft>
              <a:buClr>
                <a:schemeClr val="dk1"/>
              </a:buClr>
              <a:buSzPts val="2800"/>
              <a:buChar char="–"/>
            </a:pPr>
            <a:r>
              <a:rPr lang="en-US"/>
              <a:t>job design, </a:t>
            </a:r>
            <a:endParaRPr/>
          </a:p>
          <a:p>
            <a:pPr marL="742950" lvl="1" indent="-285750" algn="l" rtl="0">
              <a:spcBef>
                <a:spcPts val="560"/>
              </a:spcBef>
              <a:spcAft>
                <a:spcPts val="0"/>
              </a:spcAft>
              <a:buClr>
                <a:schemeClr val="dk1"/>
              </a:buClr>
              <a:buSzPts val="2800"/>
              <a:buChar char="–"/>
            </a:pPr>
            <a:r>
              <a:rPr lang="en-US"/>
              <a:t>departmentalization, </a:t>
            </a:r>
            <a:endParaRPr/>
          </a:p>
          <a:p>
            <a:pPr marL="742950" lvl="1" indent="-285750" algn="l" rtl="0">
              <a:spcBef>
                <a:spcPts val="560"/>
              </a:spcBef>
              <a:spcAft>
                <a:spcPts val="0"/>
              </a:spcAft>
              <a:buClr>
                <a:schemeClr val="dk1"/>
              </a:buClr>
              <a:buSzPts val="2800"/>
              <a:buChar char="–"/>
            </a:pPr>
            <a:r>
              <a:rPr lang="en-US"/>
              <a:t>authority relationships, </a:t>
            </a:r>
            <a:endParaRPr/>
          </a:p>
          <a:p>
            <a:pPr marL="742950" lvl="1" indent="-285750" algn="l" rtl="0">
              <a:spcBef>
                <a:spcPts val="560"/>
              </a:spcBef>
              <a:spcAft>
                <a:spcPts val="0"/>
              </a:spcAft>
              <a:buClr>
                <a:schemeClr val="dk1"/>
              </a:buClr>
              <a:buSzPts val="2800"/>
              <a:buChar char="–"/>
            </a:pPr>
            <a:r>
              <a:rPr lang="en-US"/>
              <a:t>span of control, and </a:t>
            </a:r>
            <a:endParaRPr/>
          </a:p>
          <a:p>
            <a:pPr marL="742950" lvl="1" indent="-285750" algn="l" rtl="0">
              <a:spcBef>
                <a:spcPts val="560"/>
              </a:spcBef>
              <a:spcAft>
                <a:spcPts val="0"/>
              </a:spcAft>
              <a:buClr>
                <a:schemeClr val="dk1"/>
              </a:buClr>
              <a:buSzPts val="2800"/>
              <a:buChar char="–"/>
            </a:pPr>
            <a:r>
              <a:rPr lang="en-US"/>
              <a:t>line and staff roles.</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1"/>
          <p:cNvSpPr txBox="1">
            <a:spLocks noGrp="1"/>
          </p:cNvSpPr>
          <p:nvPr>
            <p:ph type="title"/>
          </p:nvPr>
        </p:nvSpPr>
        <p:spPr>
          <a:xfrm>
            <a:off x="457200" y="23878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Leading</a:t>
            </a:r>
            <a:endParaRPr/>
          </a:p>
        </p:txBody>
      </p:sp>
      <p:sp>
        <p:nvSpPr>
          <p:cNvPr id="205" name="Google Shape;205;p2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a:bodyPr>
          <a:lstStyle/>
          <a:p>
            <a:pPr marL="342900" lvl="0" indent="-342900" algn="l" rtl="0">
              <a:spcBef>
                <a:spcPts val="0"/>
              </a:spcBef>
              <a:spcAft>
                <a:spcPts val="0"/>
              </a:spcAft>
              <a:buClr>
                <a:schemeClr val="dk1"/>
              </a:buClr>
              <a:buSzPct val="100000"/>
              <a:buChar char="•"/>
            </a:pPr>
            <a:r>
              <a:rPr lang="en-US"/>
              <a:t>Leading means the set of processes used to get members of the organization to work together to further the interests of the organization. </a:t>
            </a:r>
            <a:endParaRPr/>
          </a:p>
          <a:p>
            <a:pPr marL="342900" lvl="0" indent="-342900" algn="l" rtl="0">
              <a:spcBef>
                <a:spcPts val="592"/>
              </a:spcBef>
              <a:spcAft>
                <a:spcPts val="0"/>
              </a:spcAft>
              <a:buClr>
                <a:schemeClr val="dk1"/>
              </a:buClr>
              <a:buSzPct val="100000"/>
              <a:buChar char="•"/>
            </a:pPr>
            <a:r>
              <a:rPr lang="en-US"/>
              <a:t>Leading involves a number of different activities and processes such as, </a:t>
            </a:r>
            <a:endParaRPr/>
          </a:p>
          <a:p>
            <a:pPr marL="742950" lvl="1" indent="-285750" algn="l" rtl="0">
              <a:spcBef>
                <a:spcPts val="518"/>
              </a:spcBef>
              <a:spcAft>
                <a:spcPts val="0"/>
              </a:spcAft>
              <a:buClr>
                <a:schemeClr val="dk1"/>
              </a:buClr>
              <a:buSzPct val="100000"/>
              <a:buChar char="–"/>
            </a:pPr>
            <a:r>
              <a:rPr lang="en-US"/>
              <a:t>motivating employees, </a:t>
            </a:r>
            <a:endParaRPr/>
          </a:p>
          <a:p>
            <a:pPr marL="742950" lvl="1" indent="-285750" algn="l" rtl="0">
              <a:spcBef>
                <a:spcPts val="518"/>
              </a:spcBef>
              <a:spcAft>
                <a:spcPts val="0"/>
              </a:spcAft>
              <a:buClr>
                <a:schemeClr val="dk1"/>
              </a:buClr>
              <a:buSzPct val="100000"/>
              <a:buChar char="–"/>
            </a:pPr>
            <a:r>
              <a:rPr lang="en-US"/>
              <a:t>leader's efforts to influence others, </a:t>
            </a:r>
            <a:endParaRPr/>
          </a:p>
          <a:p>
            <a:pPr marL="742950" lvl="1" indent="-285750" algn="l" rtl="0">
              <a:spcBef>
                <a:spcPts val="518"/>
              </a:spcBef>
              <a:spcAft>
                <a:spcPts val="0"/>
              </a:spcAft>
              <a:buClr>
                <a:schemeClr val="dk1"/>
              </a:buClr>
              <a:buSzPct val="100000"/>
              <a:buChar char="–"/>
            </a:pPr>
            <a:r>
              <a:rPr lang="en-US"/>
              <a:t>managing interpersonal relations and communication, </a:t>
            </a:r>
            <a:endParaRPr/>
          </a:p>
          <a:p>
            <a:pPr marL="742950" lvl="1" indent="-285750" algn="l" rtl="0">
              <a:spcBef>
                <a:spcPts val="518"/>
              </a:spcBef>
              <a:spcAft>
                <a:spcPts val="0"/>
              </a:spcAft>
              <a:buClr>
                <a:schemeClr val="dk1"/>
              </a:buClr>
              <a:buSzPct val="100000"/>
              <a:buChar char="–"/>
            </a:pPr>
            <a:r>
              <a:rPr lang="en-US"/>
              <a:t>managing work groups and teams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Controlling</a:t>
            </a:r>
            <a:endParaRPr/>
          </a:p>
        </p:txBody>
      </p:sp>
      <p:sp>
        <p:nvSpPr>
          <p:cNvPr id="211" name="Google Shape;211;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Controlling means monitoring organizational progress toward goal attainment. </a:t>
            </a:r>
            <a:endParaRPr/>
          </a:p>
          <a:p>
            <a:pPr marL="342900" lvl="0" indent="-342900" algn="l" rtl="0">
              <a:spcBef>
                <a:spcPts val="640"/>
              </a:spcBef>
              <a:spcAft>
                <a:spcPts val="0"/>
              </a:spcAft>
              <a:buClr>
                <a:schemeClr val="dk1"/>
              </a:buClr>
              <a:buSzPts val="3200"/>
              <a:buChar char="•"/>
            </a:pPr>
            <a:r>
              <a:rPr lang="en-US"/>
              <a:t>It includes a series of activities such as </a:t>
            </a:r>
            <a:endParaRPr/>
          </a:p>
          <a:p>
            <a:pPr marL="742950" lvl="1" indent="-285750" algn="l" rtl="0">
              <a:spcBef>
                <a:spcPts val="560"/>
              </a:spcBef>
              <a:spcAft>
                <a:spcPts val="0"/>
              </a:spcAft>
              <a:buClr>
                <a:schemeClr val="dk1"/>
              </a:buClr>
              <a:buSzPts val="2800"/>
              <a:buChar char="–"/>
            </a:pPr>
            <a:r>
              <a:rPr lang="en-US"/>
              <a:t>determining standard, </a:t>
            </a:r>
            <a:endParaRPr/>
          </a:p>
          <a:p>
            <a:pPr marL="742950" lvl="1" indent="-285750" algn="l" rtl="0">
              <a:spcBef>
                <a:spcPts val="560"/>
              </a:spcBef>
              <a:spcAft>
                <a:spcPts val="0"/>
              </a:spcAft>
              <a:buClr>
                <a:schemeClr val="dk1"/>
              </a:buClr>
              <a:buSzPts val="2800"/>
              <a:buChar char="–"/>
            </a:pPr>
            <a:r>
              <a:rPr lang="en-US"/>
              <a:t>measurement of actual performance, </a:t>
            </a:r>
            <a:endParaRPr/>
          </a:p>
          <a:p>
            <a:pPr marL="742950" lvl="1" indent="-285750" algn="l" rtl="0">
              <a:spcBef>
                <a:spcPts val="560"/>
              </a:spcBef>
              <a:spcAft>
                <a:spcPts val="0"/>
              </a:spcAft>
              <a:buClr>
                <a:schemeClr val="dk1"/>
              </a:buClr>
              <a:buSzPts val="2800"/>
              <a:buChar char="–"/>
            </a:pPr>
            <a:r>
              <a:rPr lang="en-US"/>
              <a:t>identifying deviation if any, and </a:t>
            </a:r>
            <a:endParaRPr/>
          </a:p>
          <a:p>
            <a:pPr marL="742950" lvl="1" indent="-285750" algn="l" rtl="0">
              <a:spcBef>
                <a:spcPts val="560"/>
              </a:spcBef>
              <a:spcAft>
                <a:spcPts val="0"/>
              </a:spcAft>
              <a:buClr>
                <a:schemeClr val="dk1"/>
              </a:buClr>
              <a:buSzPts val="2800"/>
              <a:buChar char="–"/>
            </a:pPr>
            <a:r>
              <a:rPr lang="en-US"/>
              <a:t>taking corrective actions if any deviation is found.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Kinds of Managers</a:t>
            </a:r>
            <a:endParaRPr/>
          </a:p>
        </p:txBody>
      </p:sp>
      <p:pic>
        <p:nvPicPr>
          <p:cNvPr id="217" name="Google Shape;217;p23" descr="C:\Documents and Settings\fournij\Desktop\griffin_gifs\335020_la_01_03.eps.gif"/>
          <p:cNvPicPr preferRelativeResize="0"/>
          <p:nvPr/>
        </p:nvPicPr>
        <p:blipFill rotWithShape="1">
          <a:blip r:embed="rId3">
            <a:alphaModFix/>
          </a:blip>
          <a:srcRect/>
          <a:stretch/>
        </p:blipFill>
        <p:spPr>
          <a:xfrm>
            <a:off x="762000" y="1524000"/>
            <a:ext cx="7467600" cy="4800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Top Managers</a:t>
            </a:r>
            <a:endParaRPr/>
          </a:p>
        </p:txBody>
      </p:sp>
      <p:sp>
        <p:nvSpPr>
          <p:cNvPr id="223" name="Google Shape;223;p24"/>
          <p:cNvSpPr txBox="1">
            <a:spLocks noGrp="1"/>
          </p:cNvSpPr>
          <p:nvPr>
            <p:ph type="body" idx="1"/>
          </p:nvPr>
        </p:nvSpPr>
        <p:spPr>
          <a:xfrm>
            <a:off x="304800" y="1600200"/>
            <a:ext cx="5410200" cy="5257800"/>
          </a:xfrm>
          <a:prstGeom prst="rect">
            <a:avLst/>
          </a:prstGeom>
          <a:noFill/>
          <a:ln>
            <a:noFill/>
          </a:ln>
        </p:spPr>
        <p:txBody>
          <a:bodyPr spcFirstLastPara="1" wrap="square" lIns="91425" tIns="45700" rIns="91425" bIns="45700" anchor="t" anchorCtr="0">
            <a:normAutofit fontScale="77500" lnSpcReduction="20000"/>
          </a:bodyPr>
          <a:lstStyle/>
          <a:p>
            <a:pPr marL="342900" lvl="0" indent="-342900" algn="l" rtl="0">
              <a:spcBef>
                <a:spcPts val="0"/>
              </a:spcBef>
              <a:spcAft>
                <a:spcPts val="0"/>
              </a:spcAft>
              <a:buClr>
                <a:schemeClr val="dk1"/>
              </a:buClr>
              <a:buSzPct val="100000"/>
              <a:buChar char="•"/>
            </a:pPr>
            <a:r>
              <a:rPr lang="en-US"/>
              <a:t>Small group of executives who manage the overall organization, the strategic level. </a:t>
            </a:r>
            <a:endParaRPr/>
          </a:p>
          <a:p>
            <a:pPr marL="342900" lvl="0" indent="-342900" algn="l" rtl="0">
              <a:spcBef>
                <a:spcPts val="496"/>
              </a:spcBef>
              <a:spcAft>
                <a:spcPts val="0"/>
              </a:spcAft>
              <a:buClr>
                <a:schemeClr val="dk1"/>
              </a:buClr>
              <a:buSzPct val="100000"/>
              <a:buChar char="•"/>
            </a:pPr>
            <a:r>
              <a:rPr lang="en-US"/>
              <a:t>Titles: president, vice president, chief executive officer (CEO)</a:t>
            </a:r>
            <a:endParaRPr/>
          </a:p>
          <a:p>
            <a:pPr marL="342900" lvl="0" indent="-342900" algn="l" rtl="0">
              <a:spcBef>
                <a:spcPts val="496"/>
              </a:spcBef>
              <a:spcAft>
                <a:spcPts val="0"/>
              </a:spcAft>
              <a:buClr>
                <a:schemeClr val="dk1"/>
              </a:buClr>
              <a:buSzPct val="100000"/>
              <a:buChar char="•"/>
            </a:pPr>
            <a:r>
              <a:rPr lang="en-US"/>
              <a:t>Their functions and responsibilities are diverse and varied including making strategy, policies &amp; plans and so on. </a:t>
            </a:r>
            <a:endParaRPr/>
          </a:p>
          <a:p>
            <a:pPr marL="342900" lvl="0" indent="-342900" algn="l" rtl="0">
              <a:spcBef>
                <a:spcPts val="496"/>
              </a:spcBef>
              <a:spcAft>
                <a:spcPts val="0"/>
              </a:spcAft>
              <a:buClr>
                <a:schemeClr val="dk1"/>
              </a:buClr>
              <a:buSzPct val="100000"/>
              <a:buChar char="•"/>
            </a:pPr>
            <a:r>
              <a:rPr lang="en-US"/>
              <a:t>They determine the fate of the organization. </a:t>
            </a:r>
            <a:endParaRPr/>
          </a:p>
          <a:p>
            <a:pPr marL="342900" lvl="0" indent="-342900" algn="l" rtl="0">
              <a:spcBef>
                <a:spcPts val="496"/>
              </a:spcBef>
              <a:spcAft>
                <a:spcPts val="0"/>
              </a:spcAft>
              <a:buClr>
                <a:schemeClr val="dk1"/>
              </a:buClr>
              <a:buSzPct val="100000"/>
              <a:buChar char="•"/>
            </a:pPr>
            <a:r>
              <a:rPr lang="en-US"/>
              <a:t>They represent the organization with other organizations, government representatives, and foreign countries and so on. </a:t>
            </a:r>
            <a:endParaRPr/>
          </a:p>
          <a:p>
            <a:pPr marL="342900" lvl="0" indent="-185420" algn="l" rtl="0">
              <a:spcBef>
                <a:spcPts val="496"/>
              </a:spcBef>
              <a:spcAft>
                <a:spcPts val="0"/>
              </a:spcAft>
              <a:buClr>
                <a:schemeClr val="dk1"/>
              </a:buClr>
              <a:buSzPct val="100000"/>
              <a:buNone/>
            </a:pPr>
            <a:endParaRPr/>
          </a:p>
        </p:txBody>
      </p:sp>
      <p:pic>
        <p:nvPicPr>
          <p:cNvPr id="224" name="Google Shape;224;p24" descr="j0284879"/>
          <p:cNvPicPr preferRelativeResize="0"/>
          <p:nvPr/>
        </p:nvPicPr>
        <p:blipFill rotWithShape="1">
          <a:blip r:embed="rId3">
            <a:alphaModFix/>
          </a:blip>
          <a:srcRect/>
          <a:stretch/>
        </p:blipFill>
        <p:spPr>
          <a:xfrm>
            <a:off x="5581650" y="1752600"/>
            <a:ext cx="3257550" cy="24384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Middle Managers</a:t>
            </a:r>
            <a:endParaRPr/>
          </a:p>
        </p:txBody>
      </p:sp>
      <p:sp>
        <p:nvSpPr>
          <p:cNvPr id="230" name="Google Shape;230;p2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The largest group that implements the strategies developed at the top and coordinates and supervise the activities of the first line managers. </a:t>
            </a:r>
            <a:endParaRPr/>
          </a:p>
          <a:p>
            <a:pPr marL="342900" lvl="0" indent="-342900" algn="l" rtl="0">
              <a:spcBef>
                <a:spcPts val="640"/>
              </a:spcBef>
              <a:spcAft>
                <a:spcPts val="0"/>
              </a:spcAft>
              <a:buClr>
                <a:schemeClr val="dk1"/>
              </a:buClr>
              <a:buSzPts val="3200"/>
              <a:buChar char="•"/>
            </a:pPr>
            <a:r>
              <a:rPr lang="en-US"/>
              <a:t>The titles include operations managers, divisional head, regional managers etc.</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First-Line Managers</a:t>
            </a:r>
            <a:endParaRPr/>
          </a:p>
        </p:txBody>
      </p:sp>
      <p:sp>
        <p:nvSpPr>
          <p:cNvPr id="236" name="Google Shape;236;p26"/>
          <p:cNvSpPr txBox="1">
            <a:spLocks noGrp="1"/>
          </p:cNvSpPr>
          <p:nvPr>
            <p:ph type="body" idx="1"/>
          </p:nvPr>
        </p:nvSpPr>
        <p:spPr>
          <a:xfrm>
            <a:off x="457200" y="1600200"/>
            <a:ext cx="83058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Supervise and coordinate the activities of operating employees.</a:t>
            </a:r>
            <a:endParaRPr/>
          </a:p>
          <a:p>
            <a:pPr marL="342900" lvl="0" indent="-342900" algn="l" rtl="0">
              <a:spcBef>
                <a:spcPts val="640"/>
              </a:spcBef>
              <a:spcAft>
                <a:spcPts val="0"/>
              </a:spcAft>
              <a:buClr>
                <a:schemeClr val="dk1"/>
              </a:buClr>
              <a:buSzPts val="3200"/>
              <a:buNone/>
            </a:pPr>
            <a:endParaRPr/>
          </a:p>
        </p:txBody>
      </p:sp>
      <p:pic>
        <p:nvPicPr>
          <p:cNvPr id="237" name="Google Shape;237;p26" descr="j0301236"/>
          <p:cNvPicPr preferRelativeResize="0"/>
          <p:nvPr/>
        </p:nvPicPr>
        <p:blipFill rotWithShape="1">
          <a:blip r:embed="rId3">
            <a:alphaModFix/>
          </a:blip>
          <a:srcRect/>
          <a:stretch/>
        </p:blipFill>
        <p:spPr>
          <a:xfrm>
            <a:off x="381000" y="2895600"/>
            <a:ext cx="3824378" cy="2667000"/>
          </a:xfrm>
          <a:prstGeom prst="rect">
            <a:avLst/>
          </a:prstGeom>
          <a:noFill/>
          <a:ln>
            <a:noFill/>
          </a:ln>
        </p:spPr>
      </p:pic>
      <p:pic>
        <p:nvPicPr>
          <p:cNvPr id="238" name="Google Shape;238;p26" descr="j0301238"/>
          <p:cNvPicPr preferRelativeResize="0"/>
          <p:nvPr/>
        </p:nvPicPr>
        <p:blipFill rotWithShape="1">
          <a:blip r:embed="rId4">
            <a:alphaModFix/>
          </a:blip>
          <a:srcRect/>
          <a:stretch/>
        </p:blipFill>
        <p:spPr>
          <a:xfrm>
            <a:off x="4419600" y="2819400"/>
            <a:ext cx="4022283" cy="25908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The fundamental management skills </a:t>
            </a:r>
            <a:endParaRPr/>
          </a:p>
        </p:txBody>
      </p:sp>
      <p:sp>
        <p:nvSpPr>
          <p:cNvPr id="244" name="Google Shape;244;p2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514350" lvl="0" indent="-514350" algn="l" rtl="0">
              <a:spcBef>
                <a:spcPts val="0"/>
              </a:spcBef>
              <a:spcAft>
                <a:spcPts val="0"/>
              </a:spcAft>
              <a:buClr>
                <a:schemeClr val="dk1"/>
              </a:buClr>
              <a:buSzPts val="3200"/>
              <a:buAutoNum type="arabicPeriod"/>
            </a:pPr>
            <a:r>
              <a:rPr lang="en-US" b="1"/>
              <a:t>Technical Skills:</a:t>
            </a:r>
            <a:r>
              <a:rPr lang="en-US"/>
              <a:t> Necessary to accomplish or understand the specific kind of work being done. </a:t>
            </a:r>
            <a:endParaRPr/>
          </a:p>
          <a:p>
            <a:pPr marL="914400" lvl="1" indent="-514350" algn="l" rtl="0">
              <a:spcBef>
                <a:spcPts val="560"/>
              </a:spcBef>
              <a:spcAft>
                <a:spcPts val="0"/>
              </a:spcAft>
              <a:buClr>
                <a:schemeClr val="dk1"/>
              </a:buClr>
              <a:buSzPts val="2800"/>
              <a:buChar char="–"/>
            </a:pPr>
            <a:r>
              <a:rPr lang="en-US"/>
              <a:t>These skills are especially important for first line managers.</a:t>
            </a:r>
            <a:endParaRPr/>
          </a:p>
          <a:p>
            <a:pPr marL="342900" lvl="0" indent="-342900" algn="l" rtl="0">
              <a:spcBef>
                <a:spcPts val="640"/>
              </a:spcBef>
              <a:spcAft>
                <a:spcPts val="0"/>
              </a:spcAft>
              <a:buClr>
                <a:schemeClr val="dk1"/>
              </a:buClr>
              <a:buSzPts val="3200"/>
              <a:buNone/>
            </a:pPr>
            <a:endParaRPr/>
          </a:p>
        </p:txBody>
      </p:sp>
      <p:pic>
        <p:nvPicPr>
          <p:cNvPr id="245" name="Google Shape;245;p27" descr="j0229021"/>
          <p:cNvPicPr preferRelativeResize="0"/>
          <p:nvPr/>
        </p:nvPicPr>
        <p:blipFill rotWithShape="1">
          <a:blip r:embed="rId3">
            <a:alphaModFix/>
          </a:blip>
          <a:srcRect/>
          <a:stretch/>
        </p:blipFill>
        <p:spPr>
          <a:xfrm>
            <a:off x="3200400" y="3733800"/>
            <a:ext cx="4757925" cy="2743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Management skills cont…</a:t>
            </a:r>
            <a:endParaRPr/>
          </a:p>
        </p:txBody>
      </p:sp>
      <p:sp>
        <p:nvSpPr>
          <p:cNvPr id="251" name="Google Shape;251;p2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None/>
            </a:pPr>
            <a:r>
              <a:rPr lang="en-US" b="1"/>
              <a:t>2. Interpersonal Skills:</a:t>
            </a:r>
            <a:r>
              <a:rPr lang="en-US"/>
              <a:t> The ability to communicate with, understand, and motivate both individuals and groups. </a:t>
            </a:r>
            <a:endParaRPr/>
          </a:p>
          <a:p>
            <a:pPr marL="742950" lvl="1" indent="-285750" algn="l" rtl="0">
              <a:spcBef>
                <a:spcPts val="560"/>
              </a:spcBef>
              <a:spcAft>
                <a:spcPts val="0"/>
              </a:spcAft>
              <a:buClr>
                <a:schemeClr val="dk1"/>
              </a:buClr>
              <a:buSzPts val="2800"/>
              <a:buChar char="–"/>
            </a:pPr>
            <a:r>
              <a:rPr lang="en-US"/>
              <a:t>Be able to get along with: Subordinates, Peers, and those at higher levels.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Management skills cont…</a:t>
            </a:r>
            <a:endParaRPr/>
          </a:p>
        </p:txBody>
      </p:sp>
      <p:sp>
        <p:nvSpPr>
          <p:cNvPr id="257" name="Google Shape;257;p2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None/>
            </a:pPr>
            <a:r>
              <a:rPr lang="en-US" b="1"/>
              <a:t>3. Conceptual Skills:</a:t>
            </a:r>
            <a:r>
              <a:rPr lang="en-US"/>
              <a:t> A manager’s ability to think in the abstract. The mental capacity to: </a:t>
            </a:r>
            <a:endParaRPr/>
          </a:p>
          <a:p>
            <a:pPr marL="742950" lvl="1" indent="-285750" algn="l" rtl="0">
              <a:spcBef>
                <a:spcPts val="560"/>
              </a:spcBef>
              <a:spcAft>
                <a:spcPts val="0"/>
              </a:spcAft>
              <a:buClr>
                <a:schemeClr val="dk1"/>
              </a:buClr>
              <a:buSzPts val="2800"/>
              <a:buChar char="–"/>
            </a:pPr>
            <a:r>
              <a:rPr lang="en-US"/>
              <a:t>Understand organizational goals and its environment. </a:t>
            </a:r>
            <a:endParaRPr/>
          </a:p>
          <a:p>
            <a:pPr marL="742950" lvl="1" indent="-285750" algn="l" rtl="0">
              <a:spcBef>
                <a:spcPts val="560"/>
              </a:spcBef>
              <a:spcAft>
                <a:spcPts val="0"/>
              </a:spcAft>
              <a:buClr>
                <a:schemeClr val="dk1"/>
              </a:buClr>
              <a:buSzPts val="2800"/>
              <a:buChar char="–"/>
            </a:pPr>
            <a:r>
              <a:rPr lang="en-US"/>
              <a:t>How the organization is structured.</a:t>
            </a:r>
            <a:endParaRPr/>
          </a:p>
          <a:p>
            <a:pPr marL="742950" lvl="1" indent="-285750" algn="l" rtl="0">
              <a:spcBef>
                <a:spcPts val="560"/>
              </a:spcBef>
              <a:spcAft>
                <a:spcPts val="0"/>
              </a:spcAft>
              <a:buClr>
                <a:schemeClr val="dk1"/>
              </a:buClr>
              <a:buSzPts val="2800"/>
              <a:buChar char="–"/>
            </a:pPr>
            <a:r>
              <a:rPr lang="en-US"/>
              <a:t>Viewing the organization as system. </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Management skills cont…</a:t>
            </a:r>
            <a:endParaRPr/>
          </a:p>
        </p:txBody>
      </p:sp>
      <p:sp>
        <p:nvSpPr>
          <p:cNvPr id="263" name="Google Shape;263;p3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None/>
            </a:pPr>
            <a:r>
              <a:rPr lang="en-US" b="1"/>
              <a:t>4. Diagnostic Skills:</a:t>
            </a:r>
            <a:r>
              <a:rPr lang="en-US"/>
              <a:t> Skills that enable a manager to visualize the most appropriate response to a situation.</a:t>
            </a:r>
            <a:endParaRPr/>
          </a:p>
          <a:p>
            <a:pPr marL="342900" lvl="0" indent="-342900" algn="l" rtl="0">
              <a:spcBef>
                <a:spcPts val="640"/>
              </a:spcBef>
              <a:spcAft>
                <a:spcPts val="0"/>
              </a:spcAft>
              <a:buClr>
                <a:schemeClr val="dk1"/>
              </a:buClr>
              <a:buSzPts val="3200"/>
              <a:buNone/>
            </a:pPr>
            <a:r>
              <a:rPr lang="en-US" b="1"/>
              <a:t>5. Communication Skills:</a:t>
            </a:r>
            <a:r>
              <a:rPr lang="en-US"/>
              <a:t> A manager’s abilities both to </a:t>
            </a:r>
            <a:endParaRPr/>
          </a:p>
          <a:p>
            <a:pPr marL="742950" lvl="1" indent="-285750" algn="l" rtl="0">
              <a:spcBef>
                <a:spcPts val="560"/>
              </a:spcBef>
              <a:spcAft>
                <a:spcPts val="0"/>
              </a:spcAft>
              <a:buClr>
                <a:schemeClr val="dk1"/>
              </a:buClr>
              <a:buSzPts val="2800"/>
              <a:buChar char="–"/>
            </a:pPr>
            <a:r>
              <a:rPr lang="en-US"/>
              <a:t>effectively convey ideas and information to others and </a:t>
            </a:r>
            <a:endParaRPr/>
          </a:p>
          <a:p>
            <a:pPr marL="742950" lvl="1" indent="-285750" algn="l" rtl="0">
              <a:spcBef>
                <a:spcPts val="560"/>
              </a:spcBef>
              <a:spcAft>
                <a:spcPts val="0"/>
              </a:spcAft>
              <a:buClr>
                <a:schemeClr val="dk1"/>
              </a:buClr>
              <a:buSzPts val="2800"/>
              <a:buChar char="–"/>
            </a:pPr>
            <a:r>
              <a:rPr lang="en-US"/>
              <a:t>effectively receive ideas and information from others</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Management skills cont…</a:t>
            </a:r>
            <a:endParaRPr/>
          </a:p>
        </p:txBody>
      </p:sp>
      <p:sp>
        <p:nvSpPr>
          <p:cNvPr id="269" name="Google Shape;269;p3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None/>
            </a:pPr>
            <a:r>
              <a:rPr lang="en-US" b="1"/>
              <a:t>6. Decision-making Skills:</a:t>
            </a:r>
            <a:r>
              <a:rPr lang="en-US"/>
              <a:t> A manager’s ability to </a:t>
            </a:r>
            <a:endParaRPr/>
          </a:p>
          <a:p>
            <a:pPr marL="742950" lvl="1" indent="-285750" algn="l" rtl="0">
              <a:spcBef>
                <a:spcPts val="518"/>
              </a:spcBef>
              <a:spcAft>
                <a:spcPts val="0"/>
              </a:spcAft>
              <a:buClr>
                <a:schemeClr val="dk1"/>
              </a:buClr>
              <a:buSzPct val="100000"/>
              <a:buChar char="–"/>
            </a:pPr>
            <a:r>
              <a:rPr lang="en-US"/>
              <a:t>correctly recognize and define problems and opportunities and </a:t>
            </a:r>
            <a:endParaRPr/>
          </a:p>
          <a:p>
            <a:pPr marL="742950" lvl="1" indent="-285750" algn="l" rtl="0">
              <a:spcBef>
                <a:spcPts val="518"/>
              </a:spcBef>
              <a:spcAft>
                <a:spcPts val="0"/>
              </a:spcAft>
              <a:buClr>
                <a:schemeClr val="dk1"/>
              </a:buClr>
              <a:buSzPct val="100000"/>
              <a:buChar char="–"/>
            </a:pPr>
            <a:r>
              <a:rPr lang="en-US"/>
              <a:t>select an appropriate course of action to solve problems and capitalize on opportunities.</a:t>
            </a:r>
            <a:endParaRPr/>
          </a:p>
          <a:p>
            <a:pPr marL="342900" lvl="0" indent="-342900" algn="l" rtl="0">
              <a:spcBef>
                <a:spcPts val="592"/>
              </a:spcBef>
              <a:spcAft>
                <a:spcPts val="0"/>
              </a:spcAft>
              <a:buClr>
                <a:schemeClr val="dk1"/>
              </a:buClr>
              <a:buSzPct val="100000"/>
              <a:buNone/>
            </a:pPr>
            <a:r>
              <a:rPr lang="en-US" b="1"/>
              <a:t>7. Time-management Skills:</a:t>
            </a:r>
            <a:r>
              <a:rPr lang="en-US"/>
              <a:t> The manager’s ability to </a:t>
            </a:r>
            <a:endParaRPr/>
          </a:p>
          <a:p>
            <a:pPr marL="742950" lvl="1" indent="-285750" algn="l" rtl="0">
              <a:spcBef>
                <a:spcPts val="518"/>
              </a:spcBef>
              <a:spcAft>
                <a:spcPts val="0"/>
              </a:spcAft>
              <a:buClr>
                <a:schemeClr val="dk1"/>
              </a:buClr>
              <a:buSzPct val="100000"/>
              <a:buChar char="–"/>
            </a:pPr>
            <a:r>
              <a:rPr lang="en-US"/>
              <a:t>prioritize work, </a:t>
            </a:r>
            <a:endParaRPr/>
          </a:p>
          <a:p>
            <a:pPr marL="742950" lvl="1" indent="-285750" algn="l" rtl="0">
              <a:spcBef>
                <a:spcPts val="518"/>
              </a:spcBef>
              <a:spcAft>
                <a:spcPts val="0"/>
              </a:spcAft>
              <a:buClr>
                <a:schemeClr val="dk1"/>
              </a:buClr>
              <a:buSzPct val="100000"/>
              <a:buChar char="–"/>
            </a:pPr>
            <a:r>
              <a:rPr lang="en-US"/>
              <a:t>to work efficiently, and </a:t>
            </a:r>
            <a:endParaRPr/>
          </a:p>
          <a:p>
            <a:pPr marL="742950" lvl="1" indent="-285750" algn="l" rtl="0">
              <a:spcBef>
                <a:spcPts val="518"/>
              </a:spcBef>
              <a:spcAft>
                <a:spcPts val="0"/>
              </a:spcAft>
              <a:buClr>
                <a:schemeClr val="dk1"/>
              </a:buClr>
              <a:buSzPct val="100000"/>
              <a:buChar char="–"/>
            </a:pPr>
            <a:r>
              <a:rPr lang="en-US"/>
              <a:t>to delegate appropriately.</a:t>
            </a:r>
            <a:endParaRPr/>
          </a:p>
          <a:p>
            <a:pPr marL="342900" lvl="0" indent="-154940" algn="l" rtl="0">
              <a:spcBef>
                <a:spcPts val="592"/>
              </a:spcBef>
              <a:spcAft>
                <a:spcPts val="0"/>
              </a:spcAft>
              <a:buClr>
                <a:schemeClr val="dk1"/>
              </a:buClr>
              <a:buSzPct val="100000"/>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600"/>
              <a:buFont typeface="Calibri"/>
              <a:buNone/>
            </a:pPr>
            <a:r>
              <a:rPr lang="en-US" sz="3600"/>
              <a:t>Principles of Administrative Management</a:t>
            </a:r>
            <a:endParaRPr/>
          </a:p>
        </p:txBody>
      </p:sp>
      <p:sp>
        <p:nvSpPr>
          <p:cNvPr id="275" name="Google Shape;275;p3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b="1"/>
              <a:t>Henri Fayol</a:t>
            </a:r>
            <a:r>
              <a:rPr lang="en-US"/>
              <a:t> (29 July 1841 – 19 November 1925) was a French mining engineer, mining executive, author and director of mines who developed a general theory of business administration that is often called </a:t>
            </a:r>
            <a:r>
              <a:rPr lang="en-US" u="sng">
                <a:solidFill>
                  <a:schemeClr val="hlink"/>
                </a:solidFill>
                <a:hlinkClick r:id="rId3"/>
              </a:rPr>
              <a:t>Fayolism</a:t>
            </a:r>
            <a:r>
              <a:rPr lang="en-US"/>
              <a:t>. </a:t>
            </a:r>
            <a:endParaRPr/>
          </a:p>
          <a:p>
            <a:pPr marL="342900" lvl="0" indent="-342900" algn="l" rtl="0">
              <a:spcBef>
                <a:spcPts val="640"/>
              </a:spcBef>
              <a:spcAft>
                <a:spcPts val="0"/>
              </a:spcAft>
              <a:buClr>
                <a:schemeClr val="dk1"/>
              </a:buClr>
              <a:buSzPts val="3200"/>
              <a:buChar char="•"/>
            </a:pPr>
            <a:r>
              <a:rPr lang="en-US"/>
              <a:t>He is widely acknowledged as a founder of modern management method.</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a:t>Principles of Administrative Mgt Cont…</a:t>
            </a:r>
            <a:endParaRPr/>
          </a:p>
        </p:txBody>
      </p:sp>
      <p:sp>
        <p:nvSpPr>
          <p:cNvPr id="281" name="Google Shape;281;p3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Char char="•"/>
            </a:pPr>
            <a:r>
              <a:rPr lang="en-US" b="1"/>
              <a:t>1. Division of labor</a:t>
            </a:r>
            <a:endParaRPr/>
          </a:p>
          <a:p>
            <a:pPr marL="742950" lvl="1" indent="-285750" algn="l" rtl="0">
              <a:spcBef>
                <a:spcPts val="518"/>
              </a:spcBef>
              <a:spcAft>
                <a:spcPts val="0"/>
              </a:spcAft>
              <a:buClr>
                <a:schemeClr val="dk1"/>
              </a:buClr>
              <a:buSzPct val="100000"/>
              <a:buChar char="–"/>
            </a:pPr>
            <a:r>
              <a:rPr lang="en-US"/>
              <a:t>It is the principle of job specialization, where each job is broken down into small parts and then assigns the responsibility to the competent person. </a:t>
            </a:r>
            <a:endParaRPr/>
          </a:p>
          <a:p>
            <a:pPr marL="742950" lvl="1" indent="-285750" algn="l" rtl="0">
              <a:spcBef>
                <a:spcPts val="518"/>
              </a:spcBef>
              <a:spcAft>
                <a:spcPts val="0"/>
              </a:spcAft>
              <a:buClr>
                <a:schemeClr val="dk1"/>
              </a:buClr>
              <a:buSzPct val="100000"/>
              <a:buChar char="–"/>
            </a:pPr>
            <a:r>
              <a:rPr lang="en-US"/>
              <a:t>It will enhance the employee's expertise about the particular job.</a:t>
            </a:r>
            <a:endParaRPr/>
          </a:p>
          <a:p>
            <a:pPr marL="342900" lvl="0" indent="-342900" algn="l" rtl="0">
              <a:spcBef>
                <a:spcPts val="592"/>
              </a:spcBef>
              <a:spcAft>
                <a:spcPts val="0"/>
              </a:spcAft>
              <a:buClr>
                <a:schemeClr val="dk1"/>
              </a:buClr>
              <a:buSzPct val="100000"/>
              <a:buChar char="•"/>
            </a:pPr>
            <a:r>
              <a:rPr lang="en-US" b="1"/>
              <a:t>2. Authority and accountability</a:t>
            </a:r>
            <a:r>
              <a:rPr lang="en-US"/>
              <a:t> </a:t>
            </a:r>
            <a:endParaRPr/>
          </a:p>
          <a:p>
            <a:pPr marL="742950" lvl="1" indent="-285750" algn="l" rtl="0">
              <a:spcBef>
                <a:spcPts val="518"/>
              </a:spcBef>
              <a:spcAft>
                <a:spcPts val="0"/>
              </a:spcAft>
              <a:buClr>
                <a:schemeClr val="dk1"/>
              </a:buClr>
              <a:buSzPct val="100000"/>
              <a:buChar char="–"/>
            </a:pPr>
            <a:r>
              <a:rPr lang="en-US"/>
              <a:t>It clearly defines the rights and responsibility of manager. </a:t>
            </a:r>
            <a:endParaRPr/>
          </a:p>
          <a:p>
            <a:pPr marL="742950" lvl="1" indent="-285750" algn="l" rtl="0">
              <a:spcBef>
                <a:spcPts val="518"/>
              </a:spcBef>
              <a:spcAft>
                <a:spcPts val="0"/>
              </a:spcAft>
              <a:buClr>
                <a:schemeClr val="dk1"/>
              </a:buClr>
              <a:buSzPct val="100000"/>
              <a:buChar char="–"/>
            </a:pPr>
            <a:r>
              <a:rPr lang="en-US"/>
              <a:t>It defines the area of action, initiative and responsibility of each manager.</a:t>
            </a:r>
            <a:endParaRPr/>
          </a:p>
          <a:p>
            <a:pPr marL="342900" lvl="0" indent="-154940" algn="l" rtl="0">
              <a:spcBef>
                <a:spcPts val="592"/>
              </a:spcBef>
              <a:spcAft>
                <a:spcPts val="0"/>
              </a:spcAft>
              <a:buClr>
                <a:schemeClr val="dk1"/>
              </a:buClr>
              <a:buSzPct val="100000"/>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Principles of Administrative Mgt Cont…</a:t>
            </a:r>
            <a:endParaRPr/>
          </a:p>
        </p:txBody>
      </p:sp>
      <p:sp>
        <p:nvSpPr>
          <p:cNvPr id="287" name="Google Shape;287;p3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b="1"/>
              <a:t>3. Discipline</a:t>
            </a:r>
            <a:endParaRPr/>
          </a:p>
          <a:p>
            <a:pPr marL="742950" lvl="1" indent="-285750" algn="l" rtl="0">
              <a:spcBef>
                <a:spcPts val="560"/>
              </a:spcBef>
              <a:spcAft>
                <a:spcPts val="0"/>
              </a:spcAft>
              <a:buClr>
                <a:schemeClr val="dk1"/>
              </a:buClr>
              <a:buSzPts val="2800"/>
              <a:buChar char="–"/>
            </a:pPr>
            <a:r>
              <a:rPr lang="en-US"/>
              <a:t>Members in an organization need to respect the rules and agreements that govern the organization. To Fayol, discipline will result from </a:t>
            </a:r>
            <a:endParaRPr/>
          </a:p>
          <a:p>
            <a:pPr marL="742950" lvl="1" indent="-285750" algn="l" rtl="0">
              <a:spcBef>
                <a:spcPts val="560"/>
              </a:spcBef>
              <a:spcAft>
                <a:spcPts val="0"/>
              </a:spcAft>
              <a:buClr>
                <a:schemeClr val="dk1"/>
              </a:buClr>
              <a:buSzPts val="2800"/>
              <a:buChar char="–"/>
            </a:pPr>
            <a:r>
              <a:rPr lang="en-US"/>
              <a:t>good leadership at all level of organization, </a:t>
            </a:r>
            <a:endParaRPr/>
          </a:p>
          <a:p>
            <a:pPr marL="742950" lvl="1" indent="-285750" algn="l" rtl="0">
              <a:spcBef>
                <a:spcPts val="560"/>
              </a:spcBef>
              <a:spcAft>
                <a:spcPts val="0"/>
              </a:spcAft>
              <a:buClr>
                <a:schemeClr val="dk1"/>
              </a:buClr>
              <a:buSzPts val="2800"/>
              <a:buChar char="–"/>
            </a:pPr>
            <a:r>
              <a:rPr lang="en-US"/>
              <a:t>fair agreements, and </a:t>
            </a:r>
            <a:endParaRPr/>
          </a:p>
          <a:p>
            <a:pPr marL="742950" lvl="1" indent="-285750" algn="l" rtl="0">
              <a:spcBef>
                <a:spcPts val="560"/>
              </a:spcBef>
              <a:spcAft>
                <a:spcPts val="0"/>
              </a:spcAft>
              <a:buClr>
                <a:schemeClr val="dk1"/>
              </a:buClr>
              <a:buSzPts val="2800"/>
              <a:buChar char="–"/>
            </a:pPr>
            <a:r>
              <a:rPr lang="en-US"/>
              <a:t>judiciously enforced penalties for infractions.</a:t>
            </a:r>
            <a:r>
              <a:rPr lang="en-US" b="1"/>
              <a:t>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Principles of Administrative Mgt Cont…</a:t>
            </a:r>
            <a:endParaRPr/>
          </a:p>
        </p:txBody>
      </p:sp>
      <p:sp>
        <p:nvSpPr>
          <p:cNvPr id="293" name="Google Shape;293;p35"/>
          <p:cNvSpPr txBox="1">
            <a:spLocks noGrp="1"/>
          </p:cNvSpPr>
          <p:nvPr>
            <p:ph type="body" idx="1"/>
          </p:nvPr>
        </p:nvSpPr>
        <p:spPr>
          <a:xfrm>
            <a:off x="152400" y="1600201"/>
            <a:ext cx="4724400" cy="4419600"/>
          </a:xfrm>
          <a:prstGeom prst="rect">
            <a:avLst/>
          </a:prstGeom>
          <a:noFill/>
          <a:ln>
            <a:noFill/>
          </a:ln>
        </p:spPr>
        <p:txBody>
          <a:bodyPr spcFirstLastPara="1" wrap="square" lIns="91425" tIns="45700" rIns="91425" bIns="45700" anchor="t" anchorCtr="0">
            <a:normAutofit fontScale="92500"/>
          </a:bodyPr>
          <a:lstStyle/>
          <a:p>
            <a:pPr marL="342900" lvl="0" indent="-342900" algn="l" rtl="0">
              <a:spcBef>
                <a:spcPts val="0"/>
              </a:spcBef>
              <a:spcAft>
                <a:spcPts val="0"/>
              </a:spcAft>
              <a:buClr>
                <a:schemeClr val="dk1"/>
              </a:buClr>
              <a:buSzPct val="100000"/>
              <a:buChar char="•"/>
            </a:pPr>
            <a:r>
              <a:rPr lang="en-US" sz="2800" b="1"/>
              <a:t>4. Unity of command</a:t>
            </a:r>
            <a:r>
              <a:rPr lang="en-US" sz="2800"/>
              <a:t> </a:t>
            </a:r>
            <a:endParaRPr/>
          </a:p>
          <a:p>
            <a:pPr marL="742950" lvl="1" indent="-285750" algn="l" rtl="0">
              <a:spcBef>
                <a:spcPts val="444"/>
              </a:spcBef>
              <a:spcAft>
                <a:spcPts val="0"/>
              </a:spcAft>
              <a:buClr>
                <a:schemeClr val="dk1"/>
              </a:buClr>
              <a:buSzPct val="100000"/>
              <a:buChar char="–"/>
            </a:pPr>
            <a:r>
              <a:rPr lang="en-US" sz="2400"/>
              <a:t>It is the safeguard against dualism of control. </a:t>
            </a:r>
            <a:endParaRPr/>
          </a:p>
          <a:p>
            <a:pPr marL="742950" lvl="1" indent="-285750" algn="l" rtl="0">
              <a:spcBef>
                <a:spcPts val="444"/>
              </a:spcBef>
              <a:spcAft>
                <a:spcPts val="0"/>
              </a:spcAft>
              <a:buClr>
                <a:schemeClr val="dk1"/>
              </a:buClr>
              <a:buSzPct val="100000"/>
              <a:buChar char="–"/>
            </a:pPr>
            <a:r>
              <a:rPr lang="en-US" sz="2400"/>
              <a:t>Each employee must receive his or her instructions about a particular operation from only one person. </a:t>
            </a:r>
            <a:endParaRPr/>
          </a:p>
          <a:p>
            <a:pPr marL="742950" lvl="1" indent="-285750" algn="l" rtl="0">
              <a:spcBef>
                <a:spcPts val="444"/>
              </a:spcBef>
              <a:spcAft>
                <a:spcPts val="0"/>
              </a:spcAft>
              <a:buClr>
                <a:schemeClr val="dk1"/>
              </a:buClr>
              <a:buSzPct val="100000"/>
              <a:buChar char="–"/>
            </a:pPr>
            <a:r>
              <a:rPr lang="en-US" sz="2400"/>
              <a:t>Fayol believed that if an employee was responsible to more than one superior, conflict in instruction and confusion of authority would result.</a:t>
            </a:r>
            <a:endParaRPr/>
          </a:p>
          <a:p>
            <a:pPr marL="342900" lvl="0" indent="-178435" algn="l" rtl="0">
              <a:spcBef>
                <a:spcPts val="518"/>
              </a:spcBef>
              <a:spcAft>
                <a:spcPts val="0"/>
              </a:spcAft>
              <a:buClr>
                <a:schemeClr val="dk1"/>
              </a:buClr>
              <a:buSzPct val="100000"/>
              <a:buNone/>
            </a:pPr>
            <a:endParaRPr sz="2800"/>
          </a:p>
        </p:txBody>
      </p:sp>
      <p:pic>
        <p:nvPicPr>
          <p:cNvPr id="294" name="Google Shape;294;p35" descr="Management Diary: Principle: UNITY OF COMMAND"/>
          <p:cNvPicPr preferRelativeResize="0"/>
          <p:nvPr/>
        </p:nvPicPr>
        <p:blipFill rotWithShape="1">
          <a:blip r:embed="rId3">
            <a:alphaModFix/>
          </a:blip>
          <a:srcRect/>
          <a:stretch/>
        </p:blipFill>
        <p:spPr>
          <a:xfrm>
            <a:off x="4724400" y="1981200"/>
            <a:ext cx="5791200" cy="32766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Principles of Administrative Mgt Cont…</a:t>
            </a:r>
            <a:endParaRPr/>
          </a:p>
        </p:txBody>
      </p:sp>
      <p:sp>
        <p:nvSpPr>
          <p:cNvPr id="300" name="Google Shape;300;p3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Char char="•"/>
            </a:pPr>
            <a:r>
              <a:rPr lang="en-US" b="1"/>
              <a:t>5. Unity of direction</a:t>
            </a:r>
            <a:endParaRPr/>
          </a:p>
          <a:p>
            <a:pPr marL="742950" lvl="1" indent="-285750" algn="l" rtl="0">
              <a:spcBef>
                <a:spcPts val="518"/>
              </a:spcBef>
              <a:spcAft>
                <a:spcPts val="0"/>
              </a:spcAft>
              <a:buClr>
                <a:schemeClr val="dk1"/>
              </a:buClr>
              <a:buSzPct val="100000"/>
              <a:buChar char="–"/>
            </a:pPr>
            <a:r>
              <a:rPr lang="en-US"/>
              <a:t>Those operations within an organization that have the same objectives should be directed by only one manager. </a:t>
            </a:r>
            <a:endParaRPr/>
          </a:p>
          <a:p>
            <a:pPr marL="742950" lvl="1" indent="-285750" algn="l" rtl="0">
              <a:spcBef>
                <a:spcPts val="518"/>
              </a:spcBef>
              <a:spcAft>
                <a:spcPts val="0"/>
              </a:spcAft>
              <a:buClr>
                <a:schemeClr val="dk1"/>
              </a:buClr>
              <a:buSzPct val="100000"/>
              <a:buChar char="–"/>
            </a:pPr>
            <a:r>
              <a:rPr lang="en-US"/>
              <a:t>For example, the personnel department in a company should not have two directors each with a different hiring policy. </a:t>
            </a:r>
            <a:endParaRPr/>
          </a:p>
          <a:p>
            <a:pPr marL="342900" lvl="0" indent="-342900" algn="l" rtl="0">
              <a:spcBef>
                <a:spcPts val="592"/>
              </a:spcBef>
              <a:spcAft>
                <a:spcPts val="0"/>
              </a:spcAft>
              <a:buClr>
                <a:schemeClr val="dk1"/>
              </a:buClr>
              <a:buSzPct val="100000"/>
              <a:buChar char="•"/>
            </a:pPr>
            <a:r>
              <a:rPr lang="en-US" b="1"/>
              <a:t>6. Superiority of general interest over individual interests</a:t>
            </a:r>
            <a:endParaRPr/>
          </a:p>
          <a:p>
            <a:pPr marL="742950" lvl="1" indent="-285750" algn="l" rtl="0">
              <a:spcBef>
                <a:spcPts val="518"/>
              </a:spcBef>
              <a:spcAft>
                <a:spcPts val="0"/>
              </a:spcAft>
              <a:buClr>
                <a:schemeClr val="dk1"/>
              </a:buClr>
              <a:buSzPct val="100000"/>
              <a:buChar char="–"/>
            </a:pPr>
            <a:r>
              <a:rPr lang="en-US"/>
              <a:t>In any undertakings the interests of employees should not take precedence over the interests of the organization. </a:t>
            </a:r>
            <a:endParaRPr/>
          </a:p>
          <a:p>
            <a:pPr marL="342900" lvl="0" indent="-154940" algn="l" rtl="0">
              <a:spcBef>
                <a:spcPts val="592"/>
              </a:spcBef>
              <a:spcAft>
                <a:spcPts val="0"/>
              </a:spcAft>
              <a:buClr>
                <a:schemeClr val="dk1"/>
              </a:buClr>
              <a:buSzPct val="100000"/>
              <a:buNone/>
            </a:pP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Principles of Administrative Mgt Cont…</a:t>
            </a:r>
            <a:endParaRPr/>
          </a:p>
        </p:txBody>
      </p:sp>
      <p:sp>
        <p:nvSpPr>
          <p:cNvPr id="306" name="Google Shape;306;p3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l" rtl="0">
              <a:spcBef>
                <a:spcPts val="0"/>
              </a:spcBef>
              <a:spcAft>
                <a:spcPts val="0"/>
              </a:spcAft>
              <a:buClr>
                <a:schemeClr val="dk1"/>
              </a:buClr>
              <a:buSzPct val="100000"/>
              <a:buChar char="•"/>
            </a:pPr>
            <a:r>
              <a:rPr lang="en-US" b="1"/>
              <a:t>7. Remuneration</a:t>
            </a:r>
            <a:r>
              <a:rPr lang="en-US"/>
              <a:t> </a:t>
            </a:r>
            <a:endParaRPr/>
          </a:p>
          <a:p>
            <a:pPr marL="742950" lvl="1" indent="-285750" algn="l" rtl="0">
              <a:spcBef>
                <a:spcPts val="476"/>
              </a:spcBef>
              <a:spcAft>
                <a:spcPts val="0"/>
              </a:spcAft>
              <a:buClr>
                <a:schemeClr val="dk1"/>
              </a:buClr>
              <a:buSzPct val="100000"/>
              <a:buChar char="–"/>
            </a:pPr>
            <a:r>
              <a:rPr lang="en-US"/>
              <a:t>Adequate remuneration secures a committed work force and sustains employee's interest and participation. </a:t>
            </a:r>
            <a:endParaRPr/>
          </a:p>
          <a:p>
            <a:pPr marL="742950" lvl="1" indent="-285750" algn="l" rtl="0">
              <a:spcBef>
                <a:spcPts val="476"/>
              </a:spcBef>
              <a:spcAft>
                <a:spcPts val="0"/>
              </a:spcAft>
              <a:buClr>
                <a:schemeClr val="dk1"/>
              </a:buClr>
              <a:buSzPct val="100000"/>
              <a:buChar char="–"/>
            </a:pPr>
            <a:r>
              <a:rPr lang="en-US"/>
              <a:t>Compensation for work done should be fair to both employees and employer.</a:t>
            </a:r>
            <a:r>
              <a:rPr lang="en-US" b="1"/>
              <a:t> </a:t>
            </a:r>
            <a:endParaRPr/>
          </a:p>
          <a:p>
            <a:pPr marL="342900" lvl="0" indent="-342900" algn="l" rtl="0">
              <a:spcBef>
                <a:spcPts val="544"/>
              </a:spcBef>
              <a:spcAft>
                <a:spcPts val="0"/>
              </a:spcAft>
              <a:buClr>
                <a:schemeClr val="dk1"/>
              </a:buClr>
              <a:buSzPct val="100000"/>
              <a:buChar char="•"/>
            </a:pPr>
            <a:r>
              <a:rPr lang="en-US" b="1"/>
              <a:t>8. Centralization</a:t>
            </a:r>
            <a:endParaRPr/>
          </a:p>
          <a:p>
            <a:pPr marL="742950" lvl="1" indent="-285750" algn="l" rtl="0">
              <a:spcBef>
                <a:spcPts val="476"/>
              </a:spcBef>
              <a:spcAft>
                <a:spcPts val="0"/>
              </a:spcAft>
              <a:buClr>
                <a:schemeClr val="dk1"/>
              </a:buClr>
              <a:buSzPct val="100000"/>
              <a:buChar char="–"/>
            </a:pPr>
            <a:r>
              <a:rPr lang="en-US"/>
              <a:t>Decreasing the role of subordinates in decision making is centralization; increasing their role is decentralization. </a:t>
            </a:r>
            <a:endParaRPr/>
          </a:p>
          <a:p>
            <a:pPr marL="742950" lvl="1" indent="-285750" algn="l" rtl="0">
              <a:spcBef>
                <a:spcPts val="476"/>
              </a:spcBef>
              <a:spcAft>
                <a:spcPts val="0"/>
              </a:spcAft>
              <a:buClr>
                <a:schemeClr val="dk1"/>
              </a:buClr>
              <a:buSzPct val="100000"/>
              <a:buChar char="–"/>
            </a:pPr>
            <a:r>
              <a:rPr lang="en-US"/>
              <a:t>Fayol believed that manager should retain final responsibility but they also need to give their subordinates enough authority to do their jobs properly</a:t>
            </a:r>
            <a:r>
              <a:rPr lang="en-US" b="1"/>
              <a:t>.</a:t>
            </a:r>
            <a:endParaRPr/>
          </a:p>
          <a:p>
            <a:pPr marL="342900" lvl="0" indent="-170180" algn="l" rtl="0">
              <a:spcBef>
                <a:spcPts val="544"/>
              </a:spcBef>
              <a:spcAft>
                <a:spcPts val="0"/>
              </a:spcAft>
              <a:buClr>
                <a:schemeClr val="dk1"/>
              </a:buClr>
              <a:buSzPct val="100000"/>
              <a:buNone/>
            </a:pP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Principles of Administrative Mgt Cont…</a:t>
            </a:r>
            <a:endParaRPr/>
          </a:p>
        </p:txBody>
      </p:sp>
      <p:sp>
        <p:nvSpPr>
          <p:cNvPr id="312" name="Google Shape;312;p3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b="1"/>
              <a:t>9. Scalar chain</a:t>
            </a:r>
            <a:endParaRPr/>
          </a:p>
          <a:p>
            <a:pPr marL="742950" lvl="1" indent="-285750" algn="l" rtl="0">
              <a:spcBef>
                <a:spcPts val="560"/>
              </a:spcBef>
              <a:spcAft>
                <a:spcPts val="0"/>
              </a:spcAft>
              <a:buClr>
                <a:schemeClr val="dk1"/>
              </a:buClr>
              <a:buSzPts val="2800"/>
              <a:buChar char="–"/>
            </a:pPr>
            <a:r>
              <a:rPr lang="en-US"/>
              <a:t>Scalar chain is the principle of the observance of the chain of command, which discourages level jumping unless and until serious situation occurs.</a:t>
            </a:r>
            <a:endParaRPr/>
          </a:p>
          <a:p>
            <a:pPr marL="342900" lvl="0" indent="-342900" algn="l" rtl="0">
              <a:spcBef>
                <a:spcPts val="640"/>
              </a:spcBef>
              <a:spcAft>
                <a:spcPts val="0"/>
              </a:spcAft>
              <a:buClr>
                <a:schemeClr val="dk1"/>
              </a:buClr>
              <a:buSzPts val="3200"/>
              <a:buChar char="•"/>
            </a:pPr>
            <a:r>
              <a:rPr lang="en-US" b="1"/>
              <a:t> 10. Order</a:t>
            </a:r>
            <a:r>
              <a:rPr lang="en-US"/>
              <a:t> </a:t>
            </a:r>
            <a:endParaRPr/>
          </a:p>
          <a:p>
            <a:pPr marL="742950" lvl="1" indent="-285750" algn="l" rtl="0">
              <a:spcBef>
                <a:spcPts val="560"/>
              </a:spcBef>
              <a:spcAft>
                <a:spcPts val="0"/>
              </a:spcAft>
              <a:buClr>
                <a:schemeClr val="dk1"/>
              </a:buClr>
              <a:buSzPts val="2800"/>
              <a:buChar char="–"/>
            </a:pPr>
            <a:r>
              <a:rPr lang="en-US"/>
              <a:t>Materials and people should be in the right place at the right time. </a:t>
            </a:r>
            <a:endParaRPr/>
          </a:p>
          <a:p>
            <a:pPr marL="742950" lvl="1" indent="-285750" algn="l" rtl="0">
              <a:spcBef>
                <a:spcPts val="560"/>
              </a:spcBef>
              <a:spcAft>
                <a:spcPts val="0"/>
              </a:spcAft>
              <a:buClr>
                <a:schemeClr val="dk1"/>
              </a:buClr>
              <a:buSzPts val="2800"/>
              <a:buChar char="–"/>
            </a:pPr>
            <a:r>
              <a:rPr lang="en-US"/>
              <a:t>In particular people should be in the jobs best suited for them. </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Principles of Administrative Mgt Cont…</a:t>
            </a:r>
            <a:endParaRPr/>
          </a:p>
        </p:txBody>
      </p:sp>
      <p:sp>
        <p:nvSpPr>
          <p:cNvPr id="318" name="Google Shape;318;p3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Char char="•"/>
            </a:pPr>
            <a:r>
              <a:rPr lang="en-US" b="1"/>
              <a:t>11. Equity</a:t>
            </a:r>
            <a:endParaRPr/>
          </a:p>
          <a:p>
            <a:pPr marL="742950" lvl="1" indent="-285750" algn="l" rtl="0">
              <a:spcBef>
                <a:spcPts val="518"/>
              </a:spcBef>
              <a:spcAft>
                <a:spcPts val="0"/>
              </a:spcAft>
              <a:buClr>
                <a:schemeClr val="dk1"/>
              </a:buClr>
              <a:buSzPct val="100000"/>
              <a:buChar char="–"/>
            </a:pPr>
            <a:r>
              <a:rPr lang="en-US"/>
              <a:t>Equity is the law of the social world, which alone secures loyalty of employees and their cooperation. </a:t>
            </a:r>
            <a:endParaRPr/>
          </a:p>
          <a:p>
            <a:pPr marL="742950" lvl="1" indent="-285750" algn="l" rtl="0">
              <a:spcBef>
                <a:spcPts val="518"/>
              </a:spcBef>
              <a:spcAft>
                <a:spcPts val="0"/>
              </a:spcAft>
              <a:buClr>
                <a:schemeClr val="dk1"/>
              </a:buClr>
              <a:buSzPct val="100000"/>
              <a:buChar char="–"/>
            </a:pPr>
            <a:r>
              <a:rPr lang="en-US"/>
              <a:t>Manager should be both friendly and fair to their subordinates.</a:t>
            </a:r>
            <a:endParaRPr/>
          </a:p>
          <a:p>
            <a:pPr marL="342900" lvl="0" indent="-342900" algn="l" rtl="0">
              <a:spcBef>
                <a:spcPts val="592"/>
              </a:spcBef>
              <a:spcAft>
                <a:spcPts val="0"/>
              </a:spcAft>
              <a:buClr>
                <a:schemeClr val="dk1"/>
              </a:buClr>
              <a:buSzPct val="100000"/>
              <a:buChar char="•"/>
            </a:pPr>
            <a:r>
              <a:rPr lang="en-US" b="1"/>
              <a:t>12. Stability and security</a:t>
            </a:r>
            <a:r>
              <a:rPr lang="en-US"/>
              <a:t> </a:t>
            </a:r>
            <a:endParaRPr/>
          </a:p>
          <a:p>
            <a:pPr marL="742950" lvl="1" indent="-285750" algn="l" rtl="0">
              <a:spcBef>
                <a:spcPts val="518"/>
              </a:spcBef>
              <a:spcAft>
                <a:spcPts val="0"/>
              </a:spcAft>
              <a:buClr>
                <a:schemeClr val="dk1"/>
              </a:buClr>
              <a:buSzPct val="100000"/>
              <a:buChar char="–"/>
            </a:pPr>
            <a:r>
              <a:rPr lang="en-US"/>
              <a:t>It is a basic motivation for attention to work, interest and sustained efforts of the employees. </a:t>
            </a:r>
            <a:endParaRPr/>
          </a:p>
          <a:p>
            <a:pPr marL="742950" lvl="1" indent="-285750" algn="l" rtl="0">
              <a:spcBef>
                <a:spcPts val="518"/>
              </a:spcBef>
              <a:spcAft>
                <a:spcPts val="0"/>
              </a:spcAft>
              <a:buClr>
                <a:schemeClr val="dk1"/>
              </a:buClr>
              <a:buSzPct val="100000"/>
              <a:buChar char="–"/>
            </a:pPr>
            <a:r>
              <a:rPr lang="en-US"/>
              <a:t>To Fayol a high employee turnover rate is not good for efficient functioning of an organization.</a:t>
            </a:r>
            <a:r>
              <a:rPr lang="en-US" b="1"/>
              <a:t> </a:t>
            </a:r>
            <a:endParaRPr/>
          </a:p>
          <a:p>
            <a:pPr marL="342900" lvl="0" indent="-154940" algn="l" rtl="0">
              <a:spcBef>
                <a:spcPts val="592"/>
              </a:spcBef>
              <a:spcAft>
                <a:spcPts val="0"/>
              </a:spcAft>
              <a:buClr>
                <a:schemeClr val="dk1"/>
              </a:buClr>
              <a:buSzPct val="100000"/>
              <a:buNone/>
            </a:pP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Principles of Administrative Mgt Cont…</a:t>
            </a:r>
            <a:endParaRPr/>
          </a:p>
        </p:txBody>
      </p:sp>
      <p:sp>
        <p:nvSpPr>
          <p:cNvPr id="324" name="Google Shape;324;p4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b="1"/>
              <a:t>13. Initiative</a:t>
            </a:r>
            <a:endParaRPr/>
          </a:p>
          <a:p>
            <a:pPr marL="742950" lvl="1" indent="-285750" algn="l" rtl="0">
              <a:spcBef>
                <a:spcPts val="560"/>
              </a:spcBef>
              <a:spcAft>
                <a:spcPts val="0"/>
              </a:spcAft>
              <a:buClr>
                <a:schemeClr val="dk1"/>
              </a:buClr>
              <a:buSzPts val="2800"/>
              <a:buChar char="–"/>
            </a:pPr>
            <a:r>
              <a:rPr lang="en-US"/>
              <a:t>Subordinates should be given freedom to imagine and carry out their plans even some mistakes result.</a:t>
            </a:r>
            <a:r>
              <a:rPr lang="en-US" b="1"/>
              <a:t> </a:t>
            </a:r>
            <a:endParaRPr/>
          </a:p>
          <a:p>
            <a:pPr marL="342900" lvl="0" indent="-342900" algn="l" rtl="0">
              <a:spcBef>
                <a:spcPts val="640"/>
              </a:spcBef>
              <a:spcAft>
                <a:spcPts val="0"/>
              </a:spcAft>
              <a:buClr>
                <a:schemeClr val="dk1"/>
              </a:buClr>
              <a:buSzPts val="3200"/>
              <a:buChar char="•"/>
            </a:pPr>
            <a:r>
              <a:rPr lang="en-US" b="1"/>
              <a:t>14. Esprit de corps</a:t>
            </a:r>
            <a:r>
              <a:rPr lang="en-US"/>
              <a:t> </a:t>
            </a:r>
            <a:endParaRPr/>
          </a:p>
          <a:p>
            <a:pPr marL="742950" lvl="1" indent="-285750" algn="l" rtl="0">
              <a:spcBef>
                <a:spcPts val="560"/>
              </a:spcBef>
              <a:spcAft>
                <a:spcPts val="0"/>
              </a:spcAft>
              <a:buClr>
                <a:schemeClr val="dk1"/>
              </a:buClr>
              <a:buSzPts val="2800"/>
              <a:buChar char="–"/>
            </a:pPr>
            <a:r>
              <a:rPr lang="en-US"/>
              <a:t>It means cooperation and fellow feeling.</a:t>
            </a:r>
            <a:endParaRPr/>
          </a:p>
          <a:p>
            <a:pPr marL="742950" lvl="1" indent="-285750" algn="l" rtl="0">
              <a:spcBef>
                <a:spcPts val="560"/>
              </a:spcBef>
              <a:spcAft>
                <a:spcPts val="0"/>
              </a:spcAft>
              <a:buClr>
                <a:schemeClr val="dk1"/>
              </a:buClr>
              <a:buSzPts val="2800"/>
              <a:buChar char="–"/>
            </a:pPr>
            <a:r>
              <a:rPr lang="en-US"/>
              <a:t>It means everybody helps everybody else in a close spirit of teamwork.</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Principles of Scientific Management</a:t>
            </a:r>
            <a:endParaRPr/>
          </a:p>
        </p:txBody>
      </p:sp>
      <p:sp>
        <p:nvSpPr>
          <p:cNvPr id="330" name="Google Shape;330;p4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62500" lnSpcReduction="20000"/>
          </a:bodyPr>
          <a:lstStyle/>
          <a:p>
            <a:pPr marL="342900" lvl="0" indent="-342900" algn="l" rtl="0">
              <a:spcBef>
                <a:spcPts val="0"/>
              </a:spcBef>
              <a:spcAft>
                <a:spcPts val="0"/>
              </a:spcAft>
              <a:buClr>
                <a:schemeClr val="dk1"/>
              </a:buClr>
              <a:buSzPct val="100000"/>
              <a:buChar char="•"/>
            </a:pPr>
            <a:r>
              <a:rPr lang="en-US" b="1"/>
              <a:t>Frederick Winslow Taylor</a:t>
            </a:r>
            <a:r>
              <a:rPr lang="en-US"/>
              <a:t> (March 20, 1856 – March 21, 1915) was an American mechanical engineer who sought to improve industrial efficiency</a:t>
            </a:r>
            <a:endParaRPr/>
          </a:p>
          <a:p>
            <a:pPr marL="342900" lvl="0" indent="-342900" algn="l" rtl="0">
              <a:spcBef>
                <a:spcPts val="400"/>
              </a:spcBef>
              <a:spcAft>
                <a:spcPts val="0"/>
              </a:spcAft>
              <a:buClr>
                <a:schemeClr val="dk1"/>
              </a:buClr>
              <a:buSzPct val="100000"/>
              <a:buChar char="•"/>
            </a:pPr>
            <a:r>
              <a:rPr lang="en-US"/>
              <a:t>He was one of the first management consultants.</a:t>
            </a:r>
            <a:endParaRPr/>
          </a:p>
          <a:p>
            <a:pPr marL="342900" lvl="0" indent="-342900" algn="l" rtl="0">
              <a:spcBef>
                <a:spcPts val="400"/>
              </a:spcBef>
              <a:spcAft>
                <a:spcPts val="0"/>
              </a:spcAft>
              <a:buClr>
                <a:schemeClr val="dk1"/>
              </a:buClr>
              <a:buSzPct val="100000"/>
              <a:buChar char="•"/>
            </a:pPr>
            <a:r>
              <a:rPr lang="en-US"/>
              <a:t>Taylor was one of the intellectual leaders of the Efficiency Movement and his ideas, broadly conceived, were highly influential in the Progressive Era (1890s–1920s). </a:t>
            </a:r>
            <a:endParaRPr/>
          </a:p>
          <a:p>
            <a:pPr marL="342900" lvl="0" indent="-342900" algn="l" rtl="0">
              <a:spcBef>
                <a:spcPts val="400"/>
              </a:spcBef>
              <a:spcAft>
                <a:spcPts val="0"/>
              </a:spcAft>
              <a:buClr>
                <a:schemeClr val="dk1"/>
              </a:buClr>
              <a:buSzPct val="100000"/>
              <a:buChar char="•"/>
            </a:pPr>
            <a:r>
              <a:rPr lang="en-US"/>
              <a:t>In 1911, Taylor summed up his efficiency techniques in his book </a:t>
            </a:r>
            <a:r>
              <a:rPr lang="en-US" i="1"/>
              <a:t>The Principles of Scientific Management</a:t>
            </a:r>
            <a:r>
              <a:rPr lang="en-US"/>
              <a:t> which, in 2001, Fellows of the Academy of Management voted the most influential management book of the twentieth century. </a:t>
            </a:r>
            <a:endParaRPr/>
          </a:p>
          <a:p>
            <a:pPr marL="342900" lvl="0" indent="-342900" algn="l" rtl="0">
              <a:spcBef>
                <a:spcPts val="400"/>
              </a:spcBef>
              <a:spcAft>
                <a:spcPts val="0"/>
              </a:spcAft>
              <a:buClr>
                <a:schemeClr val="dk1"/>
              </a:buClr>
              <a:buSzPct val="100000"/>
              <a:buChar char="•"/>
            </a:pPr>
            <a:r>
              <a:rPr lang="en-US"/>
              <a:t>His pioneering work in applying engineering principles to the work done on the factory floor was instrumental in the creation and development of the branch of engineering that is now known as industrial engineering. </a:t>
            </a:r>
            <a:endParaRPr/>
          </a:p>
          <a:p>
            <a:pPr marL="342900" lvl="0" indent="-342900" algn="l" rtl="0">
              <a:spcBef>
                <a:spcPts val="400"/>
              </a:spcBef>
              <a:spcAft>
                <a:spcPts val="0"/>
              </a:spcAft>
              <a:buClr>
                <a:schemeClr val="dk1"/>
              </a:buClr>
              <a:buSzPct val="100000"/>
              <a:buChar char="•"/>
            </a:pPr>
            <a:r>
              <a:rPr lang="en-US"/>
              <a:t>Taylor is known as the father of scientific management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600"/>
              <a:buFont typeface="Calibri"/>
              <a:buNone/>
            </a:pPr>
            <a:r>
              <a:rPr lang="en-US" sz="3600"/>
              <a:t>Principles of Scientific Management Cont…</a:t>
            </a:r>
            <a:endParaRPr/>
          </a:p>
        </p:txBody>
      </p:sp>
      <p:sp>
        <p:nvSpPr>
          <p:cNvPr id="336" name="Google Shape;336;p4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spcBef>
                <a:spcPts val="0"/>
              </a:spcBef>
              <a:spcAft>
                <a:spcPts val="0"/>
              </a:spcAft>
              <a:buClr>
                <a:schemeClr val="dk1"/>
              </a:buClr>
              <a:buSzPct val="100000"/>
              <a:buChar char="•"/>
            </a:pPr>
            <a:r>
              <a:rPr lang="en-US" b="1"/>
              <a:t>1.</a:t>
            </a:r>
            <a:r>
              <a:rPr lang="en-US"/>
              <a:t> </a:t>
            </a:r>
            <a:r>
              <a:rPr lang="en-US" b="1"/>
              <a:t>Science instead of rule of thumb</a:t>
            </a:r>
            <a:endParaRPr/>
          </a:p>
          <a:p>
            <a:pPr marL="742950" lvl="1" indent="-285750" algn="l" rtl="0">
              <a:spcBef>
                <a:spcPts val="476"/>
              </a:spcBef>
              <a:spcAft>
                <a:spcPts val="0"/>
              </a:spcAft>
              <a:buClr>
                <a:schemeClr val="dk1"/>
              </a:buClr>
              <a:buSzPct val="100000"/>
              <a:buChar char="–"/>
            </a:pPr>
            <a:r>
              <a:rPr lang="en-US"/>
              <a:t>Develop a science for each element of a worker’s job that replaces rule of thumb. </a:t>
            </a:r>
            <a:endParaRPr/>
          </a:p>
          <a:p>
            <a:pPr marL="742950" lvl="1" indent="-285750" algn="l" rtl="0">
              <a:spcBef>
                <a:spcPts val="476"/>
              </a:spcBef>
              <a:spcAft>
                <a:spcPts val="0"/>
              </a:spcAft>
              <a:buClr>
                <a:schemeClr val="dk1"/>
              </a:buClr>
              <a:buSzPct val="100000"/>
              <a:buChar char="–"/>
            </a:pPr>
            <a:r>
              <a:rPr lang="en-US"/>
              <a:t>Use scientific method rather than intuition and experience to determine the work methods and tools. </a:t>
            </a:r>
            <a:endParaRPr/>
          </a:p>
          <a:p>
            <a:pPr marL="742950" lvl="1" indent="-285750" algn="l" rtl="0">
              <a:spcBef>
                <a:spcPts val="476"/>
              </a:spcBef>
              <a:spcAft>
                <a:spcPts val="0"/>
              </a:spcAft>
              <a:buClr>
                <a:schemeClr val="dk1"/>
              </a:buClr>
              <a:buSzPct val="100000"/>
              <a:buChar char="–"/>
            </a:pPr>
            <a:r>
              <a:rPr lang="en-US"/>
              <a:t>Ensure that each motion or movement of workers is the most efficient possible. </a:t>
            </a:r>
            <a:endParaRPr/>
          </a:p>
          <a:p>
            <a:pPr marL="742950" lvl="1" indent="-285750" algn="l" rtl="0">
              <a:spcBef>
                <a:spcPts val="476"/>
              </a:spcBef>
              <a:spcAft>
                <a:spcPts val="0"/>
              </a:spcAft>
              <a:buClr>
                <a:schemeClr val="dk1"/>
              </a:buClr>
              <a:buSzPct val="100000"/>
              <a:buChar char="–"/>
            </a:pPr>
            <a:r>
              <a:rPr lang="en-US"/>
              <a:t>Lay down standard time, standard methods, tools and working conditions for each task.</a:t>
            </a:r>
            <a:endParaRPr/>
          </a:p>
          <a:p>
            <a:pPr marL="342900" lvl="0" indent="-342900" algn="l" rtl="0">
              <a:spcBef>
                <a:spcPts val="544"/>
              </a:spcBef>
              <a:spcAft>
                <a:spcPts val="0"/>
              </a:spcAft>
              <a:buClr>
                <a:schemeClr val="dk1"/>
              </a:buClr>
              <a:buSzPct val="100000"/>
              <a:buChar char="•"/>
            </a:pPr>
            <a:r>
              <a:rPr lang="en-US" b="1"/>
              <a:t>2. Functional specialization </a:t>
            </a:r>
            <a:endParaRPr/>
          </a:p>
          <a:p>
            <a:pPr marL="742950" lvl="1" indent="-285750" algn="l" rtl="0">
              <a:spcBef>
                <a:spcPts val="476"/>
              </a:spcBef>
              <a:spcAft>
                <a:spcPts val="0"/>
              </a:spcAft>
              <a:buClr>
                <a:schemeClr val="dk1"/>
              </a:buClr>
              <a:buSzPct val="100000"/>
              <a:buChar char="–"/>
            </a:pPr>
            <a:r>
              <a:rPr lang="en-US"/>
              <a:t>Functional specialization should be a part of every job. </a:t>
            </a:r>
            <a:endParaRPr/>
          </a:p>
          <a:p>
            <a:pPr marL="742950" lvl="1" indent="-285750" algn="l" rtl="0">
              <a:spcBef>
                <a:spcPts val="476"/>
              </a:spcBef>
              <a:spcAft>
                <a:spcPts val="0"/>
              </a:spcAft>
              <a:buClr>
                <a:schemeClr val="dk1"/>
              </a:buClr>
              <a:buSzPct val="100000"/>
              <a:buChar char="–"/>
            </a:pPr>
            <a:r>
              <a:rPr lang="en-US"/>
              <a:t>Every worker should be a specialist in what he did and should know his job well.</a:t>
            </a:r>
            <a:endParaRPr/>
          </a:p>
          <a:p>
            <a:pPr marL="342900" lvl="0" indent="-170180" algn="l" rtl="0">
              <a:spcBef>
                <a:spcPts val="544"/>
              </a:spcBef>
              <a:spcAft>
                <a:spcPts val="0"/>
              </a:spcAft>
              <a:buClr>
                <a:schemeClr val="dk1"/>
              </a:buClr>
              <a:buSzPct val="100000"/>
              <a:buNone/>
            </a:pP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600"/>
              <a:buFont typeface="Calibri"/>
              <a:buNone/>
            </a:pPr>
            <a:r>
              <a:rPr lang="en-US" sz="3600"/>
              <a:t>Principles of Scientific Management Cont…</a:t>
            </a:r>
            <a:endParaRPr/>
          </a:p>
        </p:txBody>
      </p:sp>
      <p:sp>
        <p:nvSpPr>
          <p:cNvPr id="342" name="Google Shape;342;p4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Char char="•"/>
            </a:pPr>
            <a:r>
              <a:rPr lang="en-US" b="1"/>
              <a:t>3. Selection and Development</a:t>
            </a:r>
            <a:endParaRPr/>
          </a:p>
          <a:p>
            <a:pPr marL="742950" lvl="1" indent="-285750" algn="l" rtl="0">
              <a:spcBef>
                <a:spcPts val="518"/>
              </a:spcBef>
              <a:spcAft>
                <a:spcPts val="0"/>
              </a:spcAft>
              <a:buClr>
                <a:schemeClr val="dk1"/>
              </a:buClr>
              <a:buSzPct val="100000"/>
              <a:buChar char="–"/>
            </a:pPr>
            <a:r>
              <a:rPr lang="en-US"/>
              <a:t>Scientific selection, training and development of workers. </a:t>
            </a:r>
            <a:endParaRPr/>
          </a:p>
          <a:p>
            <a:pPr marL="742950" lvl="1" indent="-285750" algn="l" rtl="0">
              <a:spcBef>
                <a:spcPts val="518"/>
              </a:spcBef>
              <a:spcAft>
                <a:spcPts val="0"/>
              </a:spcAft>
              <a:buClr>
                <a:schemeClr val="dk1"/>
              </a:buClr>
              <a:buSzPct val="100000"/>
              <a:buChar char="–"/>
            </a:pPr>
            <a:r>
              <a:rPr lang="en-US"/>
              <a:t>Tests should be used to identify the right person for each job. </a:t>
            </a:r>
            <a:endParaRPr/>
          </a:p>
          <a:p>
            <a:pPr marL="742950" lvl="1" indent="-285750" algn="l" rtl="0">
              <a:spcBef>
                <a:spcPts val="518"/>
              </a:spcBef>
              <a:spcAft>
                <a:spcPts val="0"/>
              </a:spcAft>
              <a:buClr>
                <a:schemeClr val="dk1"/>
              </a:buClr>
              <a:buSzPct val="100000"/>
              <a:buChar char="–"/>
            </a:pPr>
            <a:r>
              <a:rPr lang="en-US"/>
              <a:t>A worker should be given job for which he is most suitable.</a:t>
            </a:r>
            <a:endParaRPr/>
          </a:p>
          <a:p>
            <a:pPr marL="342900" lvl="0" indent="-342900" algn="l" rtl="0">
              <a:spcBef>
                <a:spcPts val="592"/>
              </a:spcBef>
              <a:spcAft>
                <a:spcPts val="0"/>
              </a:spcAft>
              <a:buClr>
                <a:schemeClr val="dk1"/>
              </a:buClr>
              <a:buSzPct val="100000"/>
              <a:buChar char="•"/>
            </a:pPr>
            <a:r>
              <a:rPr lang="en-US" b="1"/>
              <a:t>4. Planning and scheduling </a:t>
            </a:r>
            <a:endParaRPr/>
          </a:p>
          <a:p>
            <a:pPr marL="742950" lvl="1" indent="-285750" algn="l" rtl="0">
              <a:spcBef>
                <a:spcPts val="518"/>
              </a:spcBef>
              <a:spcAft>
                <a:spcPts val="0"/>
              </a:spcAft>
              <a:buClr>
                <a:schemeClr val="dk1"/>
              </a:buClr>
              <a:buSzPct val="100000"/>
              <a:buChar char="–"/>
            </a:pPr>
            <a:r>
              <a:rPr lang="en-US"/>
              <a:t>Planning and scheduling of the work to ensure availability of materials and other resources at the right place, right time, and in proper condition.</a:t>
            </a:r>
            <a:endParaRPr/>
          </a:p>
          <a:p>
            <a:pPr marL="342900" lvl="0" indent="-154940" algn="l" rtl="0">
              <a:spcBef>
                <a:spcPts val="592"/>
              </a:spcBef>
              <a:spcAft>
                <a:spcPts val="0"/>
              </a:spcAft>
              <a:buClr>
                <a:schemeClr val="dk1"/>
              </a:buClr>
              <a:buSzPct val="100000"/>
              <a:buNone/>
            </a:pP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600"/>
              <a:buFont typeface="Calibri"/>
              <a:buNone/>
            </a:pPr>
            <a:r>
              <a:rPr lang="en-US" sz="3600"/>
              <a:t>Principles of Scientific Management Cont…</a:t>
            </a:r>
            <a:endParaRPr/>
          </a:p>
        </p:txBody>
      </p:sp>
      <p:sp>
        <p:nvSpPr>
          <p:cNvPr id="348" name="Google Shape;348;p4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spcBef>
                <a:spcPts val="0"/>
              </a:spcBef>
              <a:spcAft>
                <a:spcPts val="0"/>
              </a:spcAft>
              <a:buClr>
                <a:schemeClr val="dk1"/>
              </a:buClr>
              <a:buSzPct val="100000"/>
              <a:buChar char="•"/>
            </a:pPr>
            <a:r>
              <a:rPr lang="en-US" b="1"/>
              <a:t>5. Standard time and method</a:t>
            </a:r>
            <a:endParaRPr/>
          </a:p>
          <a:p>
            <a:pPr marL="742950" lvl="1" indent="-285750" algn="l" rtl="0">
              <a:spcBef>
                <a:spcPts val="476"/>
              </a:spcBef>
              <a:spcAft>
                <a:spcPts val="0"/>
              </a:spcAft>
              <a:buClr>
                <a:schemeClr val="dk1"/>
              </a:buClr>
              <a:buSzPct val="100000"/>
              <a:buChar char="–"/>
            </a:pPr>
            <a:r>
              <a:rPr lang="en-US"/>
              <a:t>Standards with respect to methods and time for each task should be established. </a:t>
            </a:r>
            <a:endParaRPr/>
          </a:p>
          <a:p>
            <a:pPr marL="742950" lvl="1" indent="-285750" algn="l" rtl="0">
              <a:spcBef>
                <a:spcPts val="476"/>
              </a:spcBef>
              <a:spcAft>
                <a:spcPts val="0"/>
              </a:spcAft>
              <a:buClr>
                <a:schemeClr val="dk1"/>
              </a:buClr>
              <a:buSzPct val="100000"/>
              <a:buChar char="–"/>
            </a:pPr>
            <a:r>
              <a:rPr lang="en-US"/>
              <a:t>Workers movements and the time needed to complete every movement should be scientifically studied. </a:t>
            </a:r>
            <a:endParaRPr/>
          </a:p>
          <a:p>
            <a:pPr marL="742950" lvl="1" indent="-285750" algn="l" rtl="0">
              <a:spcBef>
                <a:spcPts val="476"/>
              </a:spcBef>
              <a:spcAft>
                <a:spcPts val="0"/>
              </a:spcAft>
              <a:buClr>
                <a:schemeClr val="dk1"/>
              </a:buClr>
              <a:buSzPct val="100000"/>
              <a:buChar char="–"/>
            </a:pPr>
            <a:r>
              <a:rPr lang="en-US"/>
              <a:t>Jobs should be redesigned incorporating highly efficient motions with specific time required for each step in a task.</a:t>
            </a:r>
            <a:endParaRPr/>
          </a:p>
          <a:p>
            <a:pPr marL="342900" lvl="0" indent="-342900" algn="l" rtl="0">
              <a:spcBef>
                <a:spcPts val="544"/>
              </a:spcBef>
              <a:spcAft>
                <a:spcPts val="0"/>
              </a:spcAft>
              <a:buClr>
                <a:schemeClr val="dk1"/>
              </a:buClr>
              <a:buSzPct val="100000"/>
              <a:buChar char="•"/>
            </a:pPr>
            <a:r>
              <a:rPr lang="en-US" b="1"/>
              <a:t>6. Wage incentives </a:t>
            </a:r>
            <a:endParaRPr/>
          </a:p>
          <a:p>
            <a:pPr marL="742950" lvl="1" indent="-285750" algn="l" rtl="0">
              <a:spcBef>
                <a:spcPts val="476"/>
              </a:spcBef>
              <a:spcAft>
                <a:spcPts val="0"/>
              </a:spcAft>
              <a:buClr>
                <a:schemeClr val="dk1"/>
              </a:buClr>
              <a:buSzPct val="100000"/>
              <a:buChar char="–"/>
            </a:pPr>
            <a:r>
              <a:rPr lang="en-US"/>
              <a:t>Wage incentives should be an integral part of each job. </a:t>
            </a:r>
            <a:endParaRPr/>
          </a:p>
          <a:p>
            <a:pPr marL="742950" lvl="1" indent="-285750" algn="l" rtl="0">
              <a:spcBef>
                <a:spcPts val="476"/>
              </a:spcBef>
              <a:spcAft>
                <a:spcPts val="0"/>
              </a:spcAft>
              <a:buClr>
                <a:schemeClr val="dk1"/>
              </a:buClr>
              <a:buSzPct val="100000"/>
              <a:buChar char="–"/>
            </a:pPr>
            <a:r>
              <a:rPr lang="en-US"/>
              <a:t>Workers should be paid a bonus if they complete the task before the standard time. </a:t>
            </a:r>
            <a:endParaRPr/>
          </a:p>
          <a:p>
            <a:pPr marL="742950" lvl="1" indent="-285750" algn="l" rtl="0">
              <a:spcBef>
                <a:spcPts val="476"/>
              </a:spcBef>
              <a:spcAft>
                <a:spcPts val="0"/>
              </a:spcAft>
              <a:buClr>
                <a:schemeClr val="dk1"/>
              </a:buClr>
              <a:buSzPct val="100000"/>
              <a:buChar char="–"/>
            </a:pPr>
            <a:r>
              <a:rPr lang="en-US"/>
              <a:t>Different wage rates should be paid for different jobs.</a:t>
            </a:r>
            <a:endParaRPr/>
          </a:p>
          <a:p>
            <a:pPr marL="342900" lvl="0" indent="-170180" algn="l" rtl="0">
              <a:spcBef>
                <a:spcPts val="544"/>
              </a:spcBef>
              <a:spcAft>
                <a:spcPts val="0"/>
              </a:spcAft>
              <a:buClr>
                <a:schemeClr val="dk1"/>
              </a:buClr>
              <a:buSzPct val="100000"/>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600"/>
              <a:buFont typeface="Calibri"/>
              <a:buNone/>
            </a:pPr>
            <a:r>
              <a:rPr lang="en-US" sz="3600"/>
              <a:t>Principles of Scientific Management Cont…</a:t>
            </a:r>
            <a:endParaRPr/>
          </a:p>
        </p:txBody>
      </p:sp>
      <p:sp>
        <p:nvSpPr>
          <p:cNvPr id="354" name="Google Shape;354;p4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spcBef>
                <a:spcPts val="0"/>
              </a:spcBef>
              <a:spcAft>
                <a:spcPts val="0"/>
              </a:spcAft>
              <a:buClr>
                <a:schemeClr val="dk1"/>
              </a:buClr>
              <a:buSzPct val="100000"/>
              <a:buChar char="•"/>
            </a:pPr>
            <a:r>
              <a:rPr lang="en-US" b="1"/>
              <a:t>7. Co-operation</a:t>
            </a:r>
            <a:endParaRPr/>
          </a:p>
          <a:p>
            <a:pPr marL="742950" lvl="1" indent="-285750" algn="l" rtl="0">
              <a:spcBef>
                <a:spcPts val="476"/>
              </a:spcBef>
              <a:spcAft>
                <a:spcPts val="0"/>
              </a:spcAft>
              <a:buClr>
                <a:schemeClr val="dk1"/>
              </a:buClr>
              <a:buSzPct val="100000"/>
              <a:buChar char="–"/>
            </a:pPr>
            <a:r>
              <a:rPr lang="en-US"/>
              <a:t>Close co-operation between management and workers to accomplish work in accordance with scientific method. </a:t>
            </a:r>
            <a:endParaRPr/>
          </a:p>
          <a:p>
            <a:pPr marL="742950" lvl="1" indent="-285750" algn="l" rtl="0">
              <a:spcBef>
                <a:spcPts val="476"/>
              </a:spcBef>
              <a:spcAft>
                <a:spcPts val="0"/>
              </a:spcAft>
              <a:buClr>
                <a:schemeClr val="dk1"/>
              </a:buClr>
              <a:buSzPct val="100000"/>
              <a:buChar char="–"/>
            </a:pPr>
            <a:r>
              <a:rPr lang="en-US"/>
              <a:t>Management can secure higher profits only when workers perform their jobs with maximum efficiency. </a:t>
            </a:r>
            <a:endParaRPr/>
          </a:p>
          <a:p>
            <a:pPr marL="742950" lvl="1" indent="-285750" algn="l" rtl="0">
              <a:spcBef>
                <a:spcPts val="476"/>
              </a:spcBef>
              <a:spcAft>
                <a:spcPts val="0"/>
              </a:spcAft>
              <a:buClr>
                <a:schemeClr val="dk1"/>
              </a:buClr>
              <a:buSzPct val="100000"/>
              <a:buChar char="–"/>
            </a:pPr>
            <a:r>
              <a:rPr lang="en-US"/>
              <a:t>Similarly, workers can expect higher wages only when management adopts an enlightened attitude toward them. </a:t>
            </a:r>
            <a:endParaRPr/>
          </a:p>
          <a:p>
            <a:pPr marL="742950" lvl="1" indent="-285750" algn="l" rtl="0">
              <a:spcBef>
                <a:spcPts val="476"/>
              </a:spcBef>
              <a:spcAft>
                <a:spcPts val="0"/>
              </a:spcAft>
              <a:buClr>
                <a:schemeClr val="dk1"/>
              </a:buClr>
              <a:buSzPct val="100000"/>
              <a:buChar char="–"/>
            </a:pPr>
            <a:r>
              <a:rPr lang="en-US"/>
              <a:t>Instead of fighting on sharing the gains of productivity, the two sides should work together to maximize productivity so that each can get a larger share. </a:t>
            </a:r>
            <a:endParaRPr/>
          </a:p>
          <a:p>
            <a:pPr marL="742950" lvl="1" indent="-285750" algn="l" rtl="0">
              <a:spcBef>
                <a:spcPts val="476"/>
              </a:spcBef>
              <a:spcAft>
                <a:spcPts val="0"/>
              </a:spcAft>
              <a:buClr>
                <a:schemeClr val="dk1"/>
              </a:buClr>
              <a:buSzPct val="100000"/>
              <a:buChar char="–"/>
            </a:pPr>
            <a:r>
              <a:rPr lang="en-US"/>
              <a:t>Both stand to gain by maximizing output. </a:t>
            </a:r>
            <a:endParaRPr/>
          </a:p>
          <a:p>
            <a:pPr marL="742950" lvl="1" indent="-285750" algn="l" rtl="0">
              <a:spcBef>
                <a:spcPts val="476"/>
              </a:spcBef>
              <a:spcAft>
                <a:spcPts val="0"/>
              </a:spcAft>
              <a:buClr>
                <a:schemeClr val="dk1"/>
              </a:buClr>
              <a:buSzPct val="100000"/>
              <a:buChar char="–"/>
            </a:pPr>
            <a:r>
              <a:rPr lang="en-US"/>
              <a:t>There should be a mental change in both parties from conflict to cooperation.</a:t>
            </a:r>
            <a:endParaRPr/>
          </a:p>
          <a:p>
            <a:pPr marL="342900" lvl="0" indent="-170180" algn="l" rtl="0">
              <a:spcBef>
                <a:spcPts val="544"/>
              </a:spcBef>
              <a:spcAft>
                <a:spcPts val="0"/>
              </a:spcAft>
              <a:buClr>
                <a:schemeClr val="dk1"/>
              </a:buClr>
              <a:buSzPct val="100000"/>
              <a:buNone/>
            </a:pP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600"/>
              <a:buFont typeface="Calibri"/>
              <a:buNone/>
            </a:pPr>
            <a:r>
              <a:rPr lang="en-US" sz="3600"/>
              <a:t>Principles of Scientific Management Cont…</a:t>
            </a:r>
            <a:endParaRPr/>
          </a:p>
        </p:txBody>
      </p:sp>
      <p:sp>
        <p:nvSpPr>
          <p:cNvPr id="360" name="Google Shape;360;p4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8. Division of responsibility </a:t>
            </a:r>
            <a:endParaRPr/>
          </a:p>
          <a:p>
            <a:pPr marL="742950" lvl="1" indent="-285750" algn="l" rtl="0">
              <a:spcBef>
                <a:spcPts val="560"/>
              </a:spcBef>
              <a:spcAft>
                <a:spcPts val="0"/>
              </a:spcAft>
              <a:buClr>
                <a:schemeClr val="dk1"/>
              </a:buClr>
              <a:buSzPts val="2800"/>
              <a:buChar char="–"/>
            </a:pPr>
            <a:r>
              <a:rPr lang="en-US"/>
              <a:t>A more equal division of responsibility between management and workers. </a:t>
            </a:r>
            <a:endParaRPr/>
          </a:p>
          <a:p>
            <a:pPr marL="742950" lvl="1" indent="-285750" algn="l" rtl="0">
              <a:spcBef>
                <a:spcPts val="560"/>
              </a:spcBef>
              <a:spcAft>
                <a:spcPts val="0"/>
              </a:spcAft>
              <a:buClr>
                <a:schemeClr val="dk1"/>
              </a:buClr>
              <a:buSzPts val="2800"/>
              <a:buChar char="–"/>
            </a:pPr>
            <a:r>
              <a:rPr lang="en-US"/>
              <a:t>Planning should be separated from doing. </a:t>
            </a:r>
            <a:endParaRPr/>
          </a:p>
          <a:p>
            <a:pPr marL="742950" lvl="1" indent="-285750" algn="l" rtl="0">
              <a:spcBef>
                <a:spcPts val="560"/>
              </a:spcBef>
              <a:spcAft>
                <a:spcPts val="0"/>
              </a:spcAft>
              <a:buClr>
                <a:schemeClr val="dk1"/>
              </a:buClr>
              <a:buSzPts val="2800"/>
              <a:buChar char="–"/>
            </a:pPr>
            <a:r>
              <a:rPr lang="en-US"/>
              <a:t>Planning will be the responsibility of management and doing will be the responsibility of workers.</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2299</Words>
  <Application>Microsoft Office PowerPoint</Application>
  <PresentationFormat>On-screen Show (4:3)</PresentationFormat>
  <Paragraphs>242</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Industrial to Management</vt:lpstr>
      <vt:lpstr>What Is Management?</vt:lpstr>
      <vt:lpstr>What Is Management?</vt:lpstr>
      <vt:lpstr>What Is Management?</vt:lpstr>
      <vt:lpstr>What Is Management?</vt:lpstr>
      <vt:lpstr>What Is Management?</vt:lpstr>
      <vt:lpstr>What Is Management?</vt:lpstr>
      <vt:lpstr>What Is Management?</vt:lpstr>
      <vt:lpstr>Management Cont…</vt:lpstr>
      <vt:lpstr>Characteristics of Management</vt:lpstr>
      <vt:lpstr>Different Dimensions of Management</vt:lpstr>
      <vt:lpstr>Efficiency and Effectiveness</vt:lpstr>
      <vt:lpstr>Decision Situations</vt:lpstr>
      <vt:lpstr>The Management Process / Functions</vt:lpstr>
      <vt:lpstr>Planning</vt:lpstr>
      <vt:lpstr>Types of Plans</vt:lpstr>
      <vt:lpstr>Types of Planning</vt:lpstr>
      <vt:lpstr>Decision-making </vt:lpstr>
      <vt:lpstr>Decision-making Steps/Process</vt:lpstr>
      <vt:lpstr>Organizing</vt:lpstr>
      <vt:lpstr>Leading</vt:lpstr>
      <vt:lpstr>Controlling</vt:lpstr>
      <vt:lpstr>Kinds of Managers</vt:lpstr>
      <vt:lpstr>Top Managers</vt:lpstr>
      <vt:lpstr>Middle Managers</vt:lpstr>
      <vt:lpstr>First-Line Managers</vt:lpstr>
      <vt:lpstr>The fundamental management skills </vt:lpstr>
      <vt:lpstr>Management skills cont…</vt:lpstr>
      <vt:lpstr>Management skills cont…</vt:lpstr>
      <vt:lpstr>Management skills cont…</vt:lpstr>
      <vt:lpstr>Management skills cont…</vt:lpstr>
      <vt:lpstr>Principles of Administrative Management</vt:lpstr>
      <vt:lpstr>Principles of Administrative Mgt Cont…</vt:lpstr>
      <vt:lpstr>Principles of Administrative Mgt Cont…</vt:lpstr>
      <vt:lpstr>Principles of Administrative Mgt Cont…</vt:lpstr>
      <vt:lpstr>Principles of Administrative Mgt Cont…</vt:lpstr>
      <vt:lpstr>Principles of Administrative Mgt Cont…</vt:lpstr>
      <vt:lpstr>Principles of Administrative Mgt Cont…</vt:lpstr>
      <vt:lpstr>Principles of Administrative Mgt Cont…</vt:lpstr>
      <vt:lpstr>Principles of Administrative Mgt Cont…</vt:lpstr>
      <vt:lpstr>Principles of Scientific Management</vt:lpstr>
      <vt:lpstr>Principles of Scientific Management Cont…</vt:lpstr>
      <vt:lpstr>Principles of Scientific Management Cont…</vt:lpstr>
      <vt:lpstr>Principles of Scientific Management Cont…</vt:lpstr>
      <vt:lpstr>Principles of Scientific Management Cont…</vt:lpstr>
      <vt:lpstr>Principles of Scientific Management 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Industrial to Management</dc:title>
  <dc:creator>HP</dc:creator>
  <cp:lastModifiedBy>Saniul Islam Anik</cp:lastModifiedBy>
  <cp:revision>1</cp:revision>
  <dcterms:created xsi:type="dcterms:W3CDTF">2006-08-16T00:00:00Z</dcterms:created>
  <dcterms:modified xsi:type="dcterms:W3CDTF">2022-05-31T12:17:05Z</dcterms:modified>
</cp:coreProperties>
</file>